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859" r:id="rId3"/>
    <p:sldId id="260" r:id="rId4"/>
    <p:sldId id="842" r:id="rId5"/>
    <p:sldId id="860" r:id="rId6"/>
    <p:sldId id="845" r:id="rId7"/>
    <p:sldId id="843" r:id="rId8"/>
    <p:sldId id="846" r:id="rId9"/>
    <p:sldId id="858" r:id="rId10"/>
    <p:sldId id="844" r:id="rId11"/>
    <p:sldId id="847" r:id="rId12"/>
    <p:sldId id="848" r:id="rId13"/>
    <p:sldId id="849" r:id="rId14"/>
    <p:sldId id="850" r:id="rId15"/>
    <p:sldId id="851" r:id="rId16"/>
    <p:sldId id="852" r:id="rId17"/>
    <p:sldId id="857" r:id="rId18"/>
    <p:sldId id="853" r:id="rId19"/>
    <p:sldId id="854" r:id="rId20"/>
    <p:sldId id="855" r:id="rId21"/>
    <p:sldId id="856" r:id="rId22"/>
    <p:sldId id="258" r:id="rId23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4123"/>
    <a:srgbClr val="C88800"/>
    <a:srgbClr val="353D8B"/>
    <a:srgbClr val="2D3475"/>
    <a:srgbClr val="FFFFFF"/>
    <a:srgbClr val="3D4B87"/>
    <a:srgbClr val="ECAA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29" autoAdjust="0"/>
    <p:restoredTop sz="94635" autoAdjust="0"/>
  </p:normalViewPr>
  <p:slideViewPr>
    <p:cSldViewPr snapToGrid="0" showGuides="1">
      <p:cViewPr varScale="1">
        <p:scale>
          <a:sx n="111" d="100"/>
          <a:sy n="111" d="100"/>
        </p:scale>
        <p:origin x="708" y="9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EA217AB-3A3A-4858-83AF-54F5A9429485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cs-CZ"/>
        </a:p>
      </dgm:t>
    </dgm:pt>
    <dgm:pt modelId="{9AE42BEB-D815-48F8-BCE6-B1D147725107}">
      <dgm:prSet phldrT="[Text]" phldr="0" custT="1"/>
      <dgm:spPr/>
      <dgm:t>
        <a:bodyPr/>
        <a:lstStyle/>
        <a:p>
          <a:r>
            <a:rPr lang="cs-CZ" sz="2000" dirty="0"/>
            <a:t>Rodinný typ</a:t>
          </a:r>
        </a:p>
      </dgm:t>
    </dgm:pt>
    <dgm:pt modelId="{FF55030E-F2F4-496D-81DF-9D0C862008FC}" type="parTrans" cxnId="{123F2676-8CE9-4A08-B8F4-948AC42F68B9}">
      <dgm:prSet/>
      <dgm:spPr/>
      <dgm:t>
        <a:bodyPr/>
        <a:lstStyle/>
        <a:p>
          <a:endParaRPr lang="cs-CZ" sz="2000"/>
        </a:p>
      </dgm:t>
    </dgm:pt>
    <dgm:pt modelId="{A34200DB-2175-45F9-A921-6B846914BFDC}" type="sibTrans" cxnId="{123F2676-8CE9-4A08-B8F4-948AC42F68B9}">
      <dgm:prSet/>
      <dgm:spPr/>
      <dgm:t>
        <a:bodyPr/>
        <a:lstStyle/>
        <a:p>
          <a:endParaRPr lang="cs-CZ" sz="2000"/>
        </a:p>
      </dgm:t>
    </dgm:pt>
    <dgm:pt modelId="{A0F58891-CD95-42AB-B315-BC4B1F6C05C6}">
      <dgm:prSet phldrT="[Text]" phldr="0" custT="1"/>
      <dgm:spPr/>
      <dgm:t>
        <a:bodyPr/>
        <a:lstStyle/>
        <a:p>
          <a:r>
            <a:rPr lang="cs-CZ" sz="2000" dirty="0"/>
            <a:t>Cenově orientovaný</a:t>
          </a:r>
        </a:p>
      </dgm:t>
    </dgm:pt>
    <dgm:pt modelId="{CF40829F-F186-4E14-9497-9CC5B32C25AF}" type="parTrans" cxnId="{4FBCCAA0-07B4-47DB-881D-2ABC42EC2A70}">
      <dgm:prSet/>
      <dgm:spPr/>
      <dgm:t>
        <a:bodyPr/>
        <a:lstStyle/>
        <a:p>
          <a:endParaRPr lang="cs-CZ" sz="2000"/>
        </a:p>
      </dgm:t>
    </dgm:pt>
    <dgm:pt modelId="{F4896443-C89A-4634-989C-56B9E135C449}" type="sibTrans" cxnId="{4FBCCAA0-07B4-47DB-881D-2ABC42EC2A70}">
      <dgm:prSet/>
      <dgm:spPr/>
      <dgm:t>
        <a:bodyPr/>
        <a:lstStyle/>
        <a:p>
          <a:endParaRPr lang="cs-CZ" sz="2000"/>
        </a:p>
      </dgm:t>
    </dgm:pt>
    <dgm:pt modelId="{50F1E550-856A-4A51-8606-8BF42C10443C}">
      <dgm:prSet phldrT="[Text]" phldr="0" custT="1"/>
      <dgm:spPr/>
      <dgm:t>
        <a:bodyPr/>
        <a:lstStyle/>
        <a:p>
          <a:r>
            <a:rPr lang="cs-CZ" sz="2000" dirty="0"/>
            <a:t>OSVČ</a:t>
          </a:r>
        </a:p>
      </dgm:t>
    </dgm:pt>
    <dgm:pt modelId="{5446045D-E973-4CDA-967B-98A6251A3D94}" type="parTrans" cxnId="{8C77A385-21DE-45E3-AB8F-F3A388BE4E19}">
      <dgm:prSet/>
      <dgm:spPr/>
      <dgm:t>
        <a:bodyPr/>
        <a:lstStyle/>
        <a:p>
          <a:endParaRPr lang="cs-CZ" sz="2000"/>
        </a:p>
      </dgm:t>
    </dgm:pt>
    <dgm:pt modelId="{34B20427-F71A-4959-9E90-BA0D15B228B6}" type="sibTrans" cxnId="{8C77A385-21DE-45E3-AB8F-F3A388BE4E19}">
      <dgm:prSet/>
      <dgm:spPr/>
      <dgm:t>
        <a:bodyPr/>
        <a:lstStyle/>
        <a:p>
          <a:endParaRPr lang="cs-CZ" sz="2000"/>
        </a:p>
      </dgm:t>
    </dgm:pt>
    <dgm:pt modelId="{1509F71F-C787-40D3-B5A2-AA5E9E0BC295}">
      <dgm:prSet phldrT="[Text]" phldr="0" custT="1"/>
      <dgm:spPr/>
      <dgm:t>
        <a:bodyPr/>
        <a:lstStyle/>
        <a:p>
          <a:r>
            <a:rPr lang="cs-CZ" sz="2000" dirty="0"/>
            <a:t>Prémiový klient</a:t>
          </a:r>
        </a:p>
      </dgm:t>
    </dgm:pt>
    <dgm:pt modelId="{6AC9D389-42EF-4EC5-8B62-0D46476A4758}" type="parTrans" cxnId="{AF7DAA9C-F2ED-45BB-A07E-F005DCB316CA}">
      <dgm:prSet/>
      <dgm:spPr/>
      <dgm:t>
        <a:bodyPr/>
        <a:lstStyle/>
        <a:p>
          <a:endParaRPr lang="cs-CZ" sz="2000"/>
        </a:p>
      </dgm:t>
    </dgm:pt>
    <dgm:pt modelId="{311666FC-06D0-440C-BBC2-886863E3E93C}" type="sibTrans" cxnId="{AF7DAA9C-F2ED-45BB-A07E-F005DCB316CA}">
      <dgm:prSet/>
      <dgm:spPr/>
      <dgm:t>
        <a:bodyPr/>
        <a:lstStyle/>
        <a:p>
          <a:endParaRPr lang="cs-CZ" sz="2000"/>
        </a:p>
      </dgm:t>
    </dgm:pt>
    <dgm:pt modelId="{49C9B92A-E4D5-4699-8062-4F69B5E03504}" type="pres">
      <dgm:prSet presAssocID="{1EA217AB-3A3A-4858-83AF-54F5A9429485}" presName="diagram" presStyleCnt="0">
        <dgm:presLayoutVars>
          <dgm:dir/>
          <dgm:resizeHandles val="exact"/>
        </dgm:presLayoutVars>
      </dgm:prSet>
      <dgm:spPr/>
    </dgm:pt>
    <dgm:pt modelId="{658495B6-6C51-4AE8-A5E6-CDA7D473B611}" type="pres">
      <dgm:prSet presAssocID="{9AE42BEB-D815-48F8-BCE6-B1D147725107}" presName="node" presStyleLbl="node1" presStyleIdx="0" presStyleCnt="4">
        <dgm:presLayoutVars>
          <dgm:bulletEnabled val="1"/>
        </dgm:presLayoutVars>
      </dgm:prSet>
      <dgm:spPr/>
    </dgm:pt>
    <dgm:pt modelId="{A5F26197-B892-4338-8E09-B8C89D3A8CF0}" type="pres">
      <dgm:prSet presAssocID="{A34200DB-2175-45F9-A921-6B846914BFDC}" presName="sibTrans" presStyleCnt="0"/>
      <dgm:spPr/>
    </dgm:pt>
    <dgm:pt modelId="{E5E7E873-B24C-4582-A299-84BEA022E929}" type="pres">
      <dgm:prSet presAssocID="{A0F58891-CD95-42AB-B315-BC4B1F6C05C6}" presName="node" presStyleLbl="node1" presStyleIdx="1" presStyleCnt="4">
        <dgm:presLayoutVars>
          <dgm:bulletEnabled val="1"/>
        </dgm:presLayoutVars>
      </dgm:prSet>
      <dgm:spPr/>
    </dgm:pt>
    <dgm:pt modelId="{D384EAC4-324A-4212-B46B-0BB66F1AAD06}" type="pres">
      <dgm:prSet presAssocID="{F4896443-C89A-4634-989C-56B9E135C449}" presName="sibTrans" presStyleCnt="0"/>
      <dgm:spPr/>
    </dgm:pt>
    <dgm:pt modelId="{1BEB704F-6DBE-4A01-A69B-083D9F9FD87C}" type="pres">
      <dgm:prSet presAssocID="{50F1E550-856A-4A51-8606-8BF42C10443C}" presName="node" presStyleLbl="node1" presStyleIdx="2" presStyleCnt="4">
        <dgm:presLayoutVars>
          <dgm:bulletEnabled val="1"/>
        </dgm:presLayoutVars>
      </dgm:prSet>
      <dgm:spPr/>
    </dgm:pt>
    <dgm:pt modelId="{053228B4-F262-4C5F-AD22-2BD4E13CFA5D}" type="pres">
      <dgm:prSet presAssocID="{34B20427-F71A-4959-9E90-BA0D15B228B6}" presName="sibTrans" presStyleCnt="0"/>
      <dgm:spPr/>
    </dgm:pt>
    <dgm:pt modelId="{FD4A898C-EA41-48EA-AE62-66F8A9E31A1E}" type="pres">
      <dgm:prSet presAssocID="{1509F71F-C787-40D3-B5A2-AA5E9E0BC295}" presName="node" presStyleLbl="node1" presStyleIdx="3" presStyleCnt="4">
        <dgm:presLayoutVars>
          <dgm:bulletEnabled val="1"/>
        </dgm:presLayoutVars>
      </dgm:prSet>
      <dgm:spPr/>
    </dgm:pt>
  </dgm:ptLst>
  <dgm:cxnLst>
    <dgm:cxn modelId="{E7030813-8BA1-442B-9DF6-6D27A29EC551}" type="presOf" srcId="{1EA217AB-3A3A-4858-83AF-54F5A9429485}" destId="{49C9B92A-E4D5-4699-8062-4F69B5E03504}" srcOrd="0" destOrd="0" presId="urn:microsoft.com/office/officeart/2005/8/layout/default"/>
    <dgm:cxn modelId="{FDCDEB27-C251-4AA9-9465-96D97F1A74E0}" type="presOf" srcId="{50F1E550-856A-4A51-8606-8BF42C10443C}" destId="{1BEB704F-6DBE-4A01-A69B-083D9F9FD87C}" srcOrd="0" destOrd="0" presId="urn:microsoft.com/office/officeart/2005/8/layout/default"/>
    <dgm:cxn modelId="{2C7A0646-214B-4B6C-AD0A-DC79E54F1D40}" type="presOf" srcId="{1509F71F-C787-40D3-B5A2-AA5E9E0BC295}" destId="{FD4A898C-EA41-48EA-AE62-66F8A9E31A1E}" srcOrd="0" destOrd="0" presId="urn:microsoft.com/office/officeart/2005/8/layout/default"/>
    <dgm:cxn modelId="{D2F7F54B-6E3D-4A8D-BAD3-65E0428B36F6}" type="presOf" srcId="{9AE42BEB-D815-48F8-BCE6-B1D147725107}" destId="{658495B6-6C51-4AE8-A5E6-CDA7D473B611}" srcOrd="0" destOrd="0" presId="urn:microsoft.com/office/officeart/2005/8/layout/default"/>
    <dgm:cxn modelId="{123F2676-8CE9-4A08-B8F4-948AC42F68B9}" srcId="{1EA217AB-3A3A-4858-83AF-54F5A9429485}" destId="{9AE42BEB-D815-48F8-BCE6-B1D147725107}" srcOrd="0" destOrd="0" parTransId="{FF55030E-F2F4-496D-81DF-9D0C862008FC}" sibTransId="{A34200DB-2175-45F9-A921-6B846914BFDC}"/>
    <dgm:cxn modelId="{8C77A385-21DE-45E3-AB8F-F3A388BE4E19}" srcId="{1EA217AB-3A3A-4858-83AF-54F5A9429485}" destId="{50F1E550-856A-4A51-8606-8BF42C10443C}" srcOrd="2" destOrd="0" parTransId="{5446045D-E973-4CDA-967B-98A6251A3D94}" sibTransId="{34B20427-F71A-4959-9E90-BA0D15B228B6}"/>
    <dgm:cxn modelId="{AF7DAA9C-F2ED-45BB-A07E-F005DCB316CA}" srcId="{1EA217AB-3A3A-4858-83AF-54F5A9429485}" destId="{1509F71F-C787-40D3-B5A2-AA5E9E0BC295}" srcOrd="3" destOrd="0" parTransId="{6AC9D389-42EF-4EC5-8B62-0D46476A4758}" sibTransId="{311666FC-06D0-440C-BBC2-886863E3E93C}"/>
    <dgm:cxn modelId="{4FBCCAA0-07B4-47DB-881D-2ABC42EC2A70}" srcId="{1EA217AB-3A3A-4858-83AF-54F5A9429485}" destId="{A0F58891-CD95-42AB-B315-BC4B1F6C05C6}" srcOrd="1" destOrd="0" parTransId="{CF40829F-F186-4E14-9497-9CC5B32C25AF}" sibTransId="{F4896443-C89A-4634-989C-56B9E135C449}"/>
    <dgm:cxn modelId="{56D113EB-C90C-4FF2-91BC-7795162D34B4}" type="presOf" srcId="{A0F58891-CD95-42AB-B315-BC4B1F6C05C6}" destId="{E5E7E873-B24C-4582-A299-84BEA022E929}" srcOrd="0" destOrd="0" presId="urn:microsoft.com/office/officeart/2005/8/layout/default"/>
    <dgm:cxn modelId="{35D65CA9-7FB8-47F2-AD56-50299527DB09}" type="presParOf" srcId="{49C9B92A-E4D5-4699-8062-4F69B5E03504}" destId="{658495B6-6C51-4AE8-A5E6-CDA7D473B611}" srcOrd="0" destOrd="0" presId="urn:microsoft.com/office/officeart/2005/8/layout/default"/>
    <dgm:cxn modelId="{1F2E2079-46E8-4A34-8EBD-E37CA82511F9}" type="presParOf" srcId="{49C9B92A-E4D5-4699-8062-4F69B5E03504}" destId="{A5F26197-B892-4338-8E09-B8C89D3A8CF0}" srcOrd="1" destOrd="0" presId="urn:microsoft.com/office/officeart/2005/8/layout/default"/>
    <dgm:cxn modelId="{5E326B64-11DD-489E-8425-5943D6574066}" type="presParOf" srcId="{49C9B92A-E4D5-4699-8062-4F69B5E03504}" destId="{E5E7E873-B24C-4582-A299-84BEA022E929}" srcOrd="2" destOrd="0" presId="urn:microsoft.com/office/officeart/2005/8/layout/default"/>
    <dgm:cxn modelId="{0B8C8633-F381-4595-8F58-375B04EAB591}" type="presParOf" srcId="{49C9B92A-E4D5-4699-8062-4F69B5E03504}" destId="{D384EAC4-324A-4212-B46B-0BB66F1AAD06}" srcOrd="3" destOrd="0" presId="urn:microsoft.com/office/officeart/2005/8/layout/default"/>
    <dgm:cxn modelId="{D7FAEFE3-B060-48FC-9EFC-15CF4C76CD3A}" type="presParOf" srcId="{49C9B92A-E4D5-4699-8062-4F69B5E03504}" destId="{1BEB704F-6DBE-4A01-A69B-083D9F9FD87C}" srcOrd="4" destOrd="0" presId="urn:microsoft.com/office/officeart/2005/8/layout/default"/>
    <dgm:cxn modelId="{1341D5EE-7787-442A-A94C-666F09F1AA50}" type="presParOf" srcId="{49C9B92A-E4D5-4699-8062-4F69B5E03504}" destId="{053228B4-F262-4C5F-AD22-2BD4E13CFA5D}" srcOrd="5" destOrd="0" presId="urn:microsoft.com/office/officeart/2005/8/layout/default"/>
    <dgm:cxn modelId="{8B4552E2-4A03-44FC-A4C3-17F357708FC9}" type="presParOf" srcId="{49C9B92A-E4D5-4699-8062-4F69B5E03504}" destId="{FD4A898C-EA41-48EA-AE62-66F8A9E31A1E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8495B6-6C51-4AE8-A5E6-CDA7D473B611}">
      <dsp:nvSpPr>
        <dsp:cNvPr id="0" name=""/>
        <dsp:cNvSpPr/>
      </dsp:nvSpPr>
      <dsp:spPr>
        <a:xfrm>
          <a:off x="649" y="11956"/>
          <a:ext cx="2534372" cy="15206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Rodinný typ</a:t>
          </a:r>
        </a:p>
      </dsp:txBody>
      <dsp:txXfrm>
        <a:off x="649" y="11956"/>
        <a:ext cx="2534372" cy="1520623"/>
      </dsp:txXfrm>
    </dsp:sp>
    <dsp:sp modelId="{E5E7E873-B24C-4582-A299-84BEA022E929}">
      <dsp:nvSpPr>
        <dsp:cNvPr id="0" name=""/>
        <dsp:cNvSpPr/>
      </dsp:nvSpPr>
      <dsp:spPr>
        <a:xfrm>
          <a:off x="2788459" y="11956"/>
          <a:ext cx="2534372" cy="15206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Cenově orientovaný</a:t>
          </a:r>
        </a:p>
      </dsp:txBody>
      <dsp:txXfrm>
        <a:off x="2788459" y="11956"/>
        <a:ext cx="2534372" cy="1520623"/>
      </dsp:txXfrm>
    </dsp:sp>
    <dsp:sp modelId="{1BEB704F-6DBE-4A01-A69B-083D9F9FD87C}">
      <dsp:nvSpPr>
        <dsp:cNvPr id="0" name=""/>
        <dsp:cNvSpPr/>
      </dsp:nvSpPr>
      <dsp:spPr>
        <a:xfrm>
          <a:off x="649" y="1786017"/>
          <a:ext cx="2534372" cy="15206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OSVČ</a:t>
          </a:r>
        </a:p>
      </dsp:txBody>
      <dsp:txXfrm>
        <a:off x="649" y="1786017"/>
        <a:ext cx="2534372" cy="1520623"/>
      </dsp:txXfrm>
    </dsp:sp>
    <dsp:sp modelId="{FD4A898C-EA41-48EA-AE62-66F8A9E31A1E}">
      <dsp:nvSpPr>
        <dsp:cNvPr id="0" name=""/>
        <dsp:cNvSpPr/>
      </dsp:nvSpPr>
      <dsp:spPr>
        <a:xfrm>
          <a:off x="2788459" y="1786017"/>
          <a:ext cx="2534372" cy="152062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000" kern="1200" dirty="0"/>
            <a:t>Prémiový klient</a:t>
          </a:r>
        </a:p>
      </dsp:txBody>
      <dsp:txXfrm>
        <a:off x="2788459" y="1786017"/>
        <a:ext cx="2534372" cy="15206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231DB-ACB3-4664-A239-9FF8159BEF8E}" type="datetimeFigureOut">
              <a:rPr lang="cs-CZ" smtClean="0"/>
              <a:t>11.12.2025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11AB8-AA8D-4620-BB03-AE72B72C565E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8180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23506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FCF7B-0F95-9531-606A-5903CC95A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E793F5D-D962-76EE-93DF-30DA52CF0B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B34637A-2FAF-2209-EE07-A6631ADFB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9EBC8621-7A6E-DE54-9986-AF3729460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5993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93090-66B7-1015-7B58-60844B5116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5411EE3-BB54-99C2-9CC6-BC242B574B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D5C774B-317F-454F-1EB9-014EBBDE80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B196DD1-1AE8-3E54-7591-5029D42C7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371088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8734E9-7895-15FB-8968-EE5173E59F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70625040-8E87-DB20-448E-9CB710D50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43FBCB4-6677-DC82-1D53-6E590DB7E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316434A-33CA-3B13-4965-A3A88E7CA4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478952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440C9-1101-1115-6A48-8BC8B132A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2CC8DE7-E7D0-D3A4-8CFB-0EDE297DC4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F685BD0-E60F-8243-58E3-9BD2DECEAD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AF10966-CEF8-AD20-3CB7-1D7013DBF5B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20751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D19387-C747-572C-2521-B425EBC15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B273405F-C5ED-7C15-FF26-A2854D59A5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2AAB0CD1-2158-A887-BA6A-149DD1C806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7B133E6C-0395-1421-58CD-F46F4F3606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806215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E8025-92F6-E84E-B0DB-AA2463838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40002D3A-2495-B941-F3C8-DFB99DA9FE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B0F4E8C4-7B49-1551-1A16-88A1E4F112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A89FE53-D711-604C-264C-A9FDCC31F0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066877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525DC6-AE03-47C6-3A75-538920050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30F09D0C-C6D7-432D-391F-B2D64BE777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4F48798-CF37-36DA-ABFB-58ADE03C8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D385BEF4-4CF5-DDE9-85E1-9D403636B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89740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E9E2F2-63E4-E1AA-BF75-5845B168A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2790EED-6277-FF0B-6D4A-261DC2B8F6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4AF0D57-68B0-40E3-9D7E-C0BAE01D35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A65D947-0BB3-4DE4-059B-1538F68743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304763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C22D3F-AAEA-9DEA-1C74-CD3368A08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A79489D-C41C-222A-94FC-3666B798E9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BCAF789-D6D3-105E-48AF-4788E36FF8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BFF8AB3F-2071-4CFD-DB8E-F86187B146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72983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E5073B-133C-FDB0-94A1-80A0CF401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DA52ED73-A2D2-9D0D-B4B0-D3BA948DC4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3EFCC7BC-6873-4919-F4F9-3563493D5B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DDB951C-730F-1772-0F53-70A342C91B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484277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6A5A3-AFAE-2EF6-8267-84A80E673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002E4EBE-94F0-C7F7-2B1A-975CBD273E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A56F890-9FCA-9C22-F900-A3D1217ACB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AB24582-6751-4B3E-4EB7-1204A6CF96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773197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5687-AD7F-DE10-E329-84DB93691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6FA2B8C-5E4D-DAA8-921F-619BA4BD86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6916160-5144-D4D9-14A5-66257D4D1C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357DBB6-F550-9DDE-147F-75C9DFB6F9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700033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0003B-94D6-43E4-1CAD-614CFD700B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C9A742A6-2624-A53D-BE43-36920B09D6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03203126-D5FC-10A7-A4B8-FB647C748D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B20CA9E-6E23-C346-8489-E04ECC1BFF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138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CA2B-48C6-ADF1-670E-BD94983DE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F352B505-A124-E383-76B4-A7ADDF2D38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C60FA62-5E25-2899-98FD-1AAAA0FB41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04CDBED-10AC-06E9-01D9-091B194501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19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63972051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83E064-C44D-194D-88EC-69BECAC67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C0F78617-FC85-9EA0-2644-51FA8DB489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A3CBB719-1E19-5313-FDE2-6A378B60E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2B11510-9E0C-7575-4AEF-01A3E94B5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20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223939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22FB8-E50F-080D-BA03-F8FE0AC48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31151F1-866D-0950-E95E-CE6FAAF213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82FE63D2-9A99-7328-3206-77C4A5D07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F0BD602-BDEF-EA26-E752-E38638D12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11AB8-AA8D-4620-BB03-AE72B72C565E}" type="slidenum">
              <a:rPr lang="cs-CZ" smtClean="0"/>
              <a:t>21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96624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 descr="Obsah obrázku snímek obrazovky, logo, design&#10;&#10;Popis byl vytvořen automaticky">
            <a:extLst>
              <a:ext uri="{FF2B5EF4-FFF2-40B4-BE49-F238E27FC236}">
                <a16:creationId xmlns:a16="http://schemas.microsoft.com/office/drawing/2014/main" id="{4650DC26-31BF-76D0-4245-4AF505C11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8BA8123-C7E2-D717-D7E5-09A0094727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456" y="3428999"/>
            <a:ext cx="9144000" cy="1426019"/>
          </a:xfrm>
        </p:spPr>
        <p:txBody>
          <a:bodyPr lIns="0" tIns="0" rIns="0" bIns="0" anchor="t">
            <a:normAutofit/>
          </a:bodyPr>
          <a:lstStyle>
            <a:lvl1pPr algn="l">
              <a:lnSpc>
                <a:spcPct val="11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Vložte nadpis titulního snímku,</a:t>
            </a:r>
            <a:br>
              <a:rPr lang="cs-CZ" dirty="0"/>
            </a:br>
            <a:r>
              <a:rPr lang="cs-CZ" dirty="0"/>
              <a:t>může být na dva řádky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11DCE8E-A691-BDF9-FC0A-24EDA5F0224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47456" y="5176835"/>
            <a:ext cx="9144000" cy="1359349"/>
          </a:xfrm>
        </p:spPr>
        <p:txBody>
          <a:bodyPr lIns="0" tIns="0" rIns="0" bIns="0"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dirty="0"/>
              <a:t>Vložte podnadpis titulního snímku</a:t>
            </a:r>
          </a:p>
        </p:txBody>
      </p:sp>
      <p:pic>
        <p:nvPicPr>
          <p:cNvPr id="5" name="Obrázek 4" descr="Obsah obrázku text, Písmo, Grafika, logo&#10;&#10;Popis byl vytvořen automaticky">
            <a:extLst>
              <a:ext uri="{FF2B5EF4-FFF2-40B4-BE49-F238E27FC236}">
                <a16:creationId xmlns:a16="http://schemas.microsoft.com/office/drawing/2014/main" id="{83F36F57-9804-FA95-788B-EE6DCA0BB82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426" y="216178"/>
            <a:ext cx="4897802" cy="1883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06484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ředě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4650DC26-31BF-76D0-4245-4AF505C11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0"/>
            <a:ext cx="12191999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8BA8123-C7E2-D717-D7E5-09A0094727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456" y="2273301"/>
            <a:ext cx="6405794" cy="2311400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1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Vložte text předělu</a:t>
            </a:r>
            <a:br>
              <a:rPr lang="cs-CZ" dirty="0"/>
            </a:br>
            <a:r>
              <a:rPr lang="cs-CZ" dirty="0"/>
              <a:t>(klidně na více řádků)</a:t>
            </a:r>
          </a:p>
        </p:txBody>
      </p:sp>
      <p:pic>
        <p:nvPicPr>
          <p:cNvPr id="4" name="Obrázek 3" descr="Obsah obrázku text, Písmo, Grafika, logo&#10;&#10;Popis byl vytvořen automaticky">
            <a:extLst>
              <a:ext uri="{FF2B5EF4-FFF2-40B4-BE49-F238E27FC236}">
                <a16:creationId xmlns:a16="http://schemas.microsoft.com/office/drawing/2014/main" id="{44C75322-25DB-B98C-60C6-B7B92860FFF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6020" y="188186"/>
            <a:ext cx="1906853" cy="7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3347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va sloupce text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ál 10">
            <a:extLst>
              <a:ext uri="{FF2B5EF4-FFF2-40B4-BE49-F238E27FC236}">
                <a16:creationId xmlns:a16="http://schemas.microsoft.com/office/drawing/2014/main" id="{2A44CF72-2F46-B00B-E5E2-922ED11FCFD1}"/>
              </a:ext>
            </a:extLst>
          </p:cNvPr>
          <p:cNvSpPr/>
          <p:nvPr userDrawn="1"/>
        </p:nvSpPr>
        <p:spPr>
          <a:xfrm>
            <a:off x="11590020" y="6386195"/>
            <a:ext cx="670560" cy="6705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17D1A2-96BD-8C05-5711-B4BBC208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 anchor="t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3825C9-8139-876B-0C8A-EE449C70CF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2" spcCol="360000">
            <a:normAutofit/>
          </a:bodyPr>
          <a:lstStyle>
            <a:lvl1pPr marL="266700" indent="-26670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●"/>
              <a:defRPr sz="2000" b="1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2000"/>
            </a:lvl2pPr>
            <a:lvl3pPr marL="266700" indent="-266700"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●"/>
              <a:defRPr sz="1600" b="1">
                <a:solidFill>
                  <a:schemeClr val="accent1"/>
                </a:solidFill>
              </a:defRPr>
            </a:lvl3pPr>
            <a:lvl4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1600"/>
            </a:lvl4pPr>
            <a:lvl5pPr marL="266700" indent="-266700">
              <a:buSzPct val="100000"/>
              <a:buFont typeface="Arial" panose="020B0604020202020204" pitchFamily="34" charset="0"/>
              <a:buChar char="●"/>
              <a:defRPr sz="2000"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7695-402D-92FF-0A27-59296543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8079-6AB7-403D-A1E4-46500DF55628}" type="datetime11">
              <a:rPr lang="cs-CZ" smtClean="0"/>
              <a:t>12:16:36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227ED5-9FAE-63A7-1528-7FC6CA1E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5012E2-6FA2-3175-2843-EAC073D7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15D8F433-642A-41AC-BC12-CE412EF5A94A}" type="slidenum">
              <a:rPr lang="cs-CZ" smtClean="0"/>
              <a:pPr/>
              <a:t>‹#›</a:t>
            </a:fld>
            <a:endParaRPr lang="cs-CZ" dirty="0"/>
          </a:p>
        </p:txBody>
      </p:sp>
      <p:pic>
        <p:nvPicPr>
          <p:cNvPr id="12" name="Obrázek 11">
            <a:extLst>
              <a:ext uri="{FF2B5EF4-FFF2-40B4-BE49-F238E27FC236}">
                <a16:creationId xmlns:a16="http://schemas.microsoft.com/office/drawing/2014/main" id="{A763323E-EE3A-AABC-1231-9E759E4E89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6020" y="188186"/>
            <a:ext cx="1906852" cy="7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80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obráz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917D1A2-96BD-8C05-5711-B4BBC208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4" y="365125"/>
            <a:ext cx="5268912" cy="2136775"/>
          </a:xfrm>
        </p:spPr>
        <p:txBody>
          <a:bodyPr anchor="t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3825C9-8139-876B-0C8A-EE449C70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638425"/>
            <a:ext cx="5268913" cy="3538537"/>
          </a:xfrm>
        </p:spPr>
        <p:txBody>
          <a:bodyPr numCol="1" spcCol="360000">
            <a:normAutofit/>
          </a:bodyPr>
          <a:lstStyle>
            <a:lvl1pPr marL="266700" indent="-2667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●"/>
              <a:defRPr sz="2000" b="1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2000"/>
            </a:lvl2pPr>
            <a:lvl3pPr marL="266700" indent="-26670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Char char="●"/>
              <a:defRPr sz="1600" b="1">
                <a:solidFill>
                  <a:schemeClr val="accent1"/>
                </a:solidFill>
              </a:defRPr>
            </a:lvl3pPr>
            <a:lvl4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1600"/>
            </a:lvl4pPr>
            <a:lvl5pPr marL="266700" indent="-266700">
              <a:buSzPct val="100000"/>
              <a:buFont typeface="Arial" panose="020B0604020202020204" pitchFamily="34" charset="0"/>
              <a:buChar char="●"/>
              <a:defRPr sz="2000"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7695-402D-92FF-0A27-59296543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8079-6AB7-403D-A1E4-46500DF55628}" type="datetime11">
              <a:rPr lang="cs-CZ" smtClean="0"/>
              <a:t>12:16:36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227ED5-9FAE-63A7-1528-7FC6CA1E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5012E2-6FA2-3175-2843-EAC073D7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15D8F433-642A-41AC-BC12-CE412EF5A94A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Zástupný symbol obrázku 8">
            <a:extLst>
              <a:ext uri="{FF2B5EF4-FFF2-40B4-BE49-F238E27FC236}">
                <a16:creationId xmlns:a16="http://schemas.microsoft.com/office/drawing/2014/main" id="{89ED8799-1568-A6E7-A1EC-AEDF07BECAD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</p:spPr>
        <p:txBody>
          <a:bodyPr/>
          <a:lstStyle/>
          <a:p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6797D128-EEA5-2FDA-01D2-9606BFC74E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515475" y="3455"/>
            <a:ext cx="2308263" cy="887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7999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 další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ál 10">
            <a:extLst>
              <a:ext uri="{FF2B5EF4-FFF2-40B4-BE49-F238E27FC236}">
                <a16:creationId xmlns:a16="http://schemas.microsoft.com/office/drawing/2014/main" id="{2A44CF72-2F46-B00B-E5E2-922ED11FCFD1}"/>
              </a:ext>
            </a:extLst>
          </p:cNvPr>
          <p:cNvSpPr/>
          <p:nvPr userDrawn="1"/>
        </p:nvSpPr>
        <p:spPr>
          <a:xfrm>
            <a:off x="11590020" y="6386195"/>
            <a:ext cx="670560" cy="67056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2917D1A2-96BD-8C05-5711-B4BBC2086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 anchor="t"/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93825C9-8139-876B-0C8A-EE449C70CF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25625"/>
            <a:ext cx="5240337" cy="4351338"/>
          </a:xfrm>
        </p:spPr>
        <p:txBody>
          <a:bodyPr numCol="1" spcCol="360000">
            <a:normAutofit/>
          </a:bodyPr>
          <a:lstStyle>
            <a:lvl1pPr marL="457200" indent="-4572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2000" b="1">
                <a:solidFill>
                  <a:schemeClr val="accent1"/>
                </a:solidFill>
              </a:defRPr>
            </a:lvl1pPr>
            <a:lvl2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2000"/>
            </a:lvl2pPr>
            <a:lvl3pPr marL="342900" indent="-34290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+mj-lt"/>
              <a:buAutoNum type="arabicPeriod"/>
              <a:defRPr sz="1600" b="1">
                <a:solidFill>
                  <a:schemeClr val="accent1"/>
                </a:solidFill>
              </a:defRPr>
            </a:lvl3pPr>
            <a:lvl4pPr marL="0" indent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SzPct val="100000"/>
              <a:buFont typeface="Arial" panose="020B0604020202020204" pitchFamily="34" charset="0"/>
              <a:buNone/>
              <a:defRPr sz="1600"/>
            </a:lvl4pPr>
            <a:lvl5pPr marL="266700" indent="-266700">
              <a:buSzPct val="100000"/>
              <a:buFont typeface="Arial" panose="020B0604020202020204" pitchFamily="34" charset="0"/>
              <a:buChar char="●"/>
              <a:defRPr sz="2000"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2B77695-402D-92FF-0A27-592965438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F8079-6AB7-403D-A1E4-46500DF55628}" type="datetime11">
              <a:rPr lang="cs-CZ" smtClean="0"/>
              <a:t>12:16:36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0E227ED5-9FAE-63A7-1528-7FC6CA1EB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95012E2-6FA2-3175-2843-EAC073D7E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>
            <a:lvl1pPr>
              <a:defRPr sz="1400" b="1">
                <a:solidFill>
                  <a:schemeClr val="bg1"/>
                </a:solidFill>
              </a:defRPr>
            </a:lvl1pPr>
          </a:lstStyle>
          <a:p>
            <a:fld id="{15D8F433-642A-41AC-BC12-CE412EF5A94A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9" name="Zástupný obsah 8">
            <a:extLst>
              <a:ext uri="{FF2B5EF4-FFF2-40B4-BE49-F238E27FC236}">
                <a16:creationId xmlns:a16="http://schemas.microsoft.com/office/drawing/2014/main" id="{B203B429-05BF-CC5E-EFA4-48968B555DF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96025" y="1825624"/>
            <a:ext cx="5345113" cy="4351339"/>
          </a:xfrm>
        </p:spPr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/>
            </a:lvl3pPr>
            <a:lvl4pPr>
              <a:lnSpc>
                <a:spcPct val="120000"/>
              </a:lnSpc>
              <a:defRPr/>
            </a:lvl4pPr>
            <a:lvl5pPr>
              <a:lnSpc>
                <a:spcPct val="120000"/>
              </a:lnSpc>
              <a:defRPr/>
            </a:lvl5pPr>
          </a:lstStyle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pic>
        <p:nvPicPr>
          <p:cNvPr id="10" name="Obrázek 9">
            <a:extLst>
              <a:ext uri="{FF2B5EF4-FFF2-40B4-BE49-F238E27FC236}">
                <a16:creationId xmlns:a16="http://schemas.microsoft.com/office/drawing/2014/main" id="{B8D0C165-1BD2-3014-F7EA-3B074A1714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6020" y="188186"/>
            <a:ext cx="1906852" cy="7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367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79348C-999A-BCC7-7D13-2E1E17EEF0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>
            <a:normAutofit/>
          </a:bodyPr>
          <a:lstStyle>
            <a:lvl1pPr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BC3B1F86-2106-CCA5-2284-BFDD813A0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0C386-4E1A-44AD-A15B-388ADA44F444}" type="datetime11">
              <a:rPr lang="cs-CZ" smtClean="0"/>
              <a:t>12:16:36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4E0788E-F2A8-4263-D78D-2E021A9FAC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32A623A-FCB3-3E1F-57A7-A3EF1F59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D8F433-642A-41AC-BC12-CE412EF5A94A}" type="slidenum">
              <a:rPr lang="cs-CZ" smtClean="0"/>
              <a:t>‹#›</a:t>
            </a:fld>
            <a:endParaRPr lang="cs-CZ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2AB5BD7-D9CE-90A0-F766-FE44CAFDC4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96020" y="188186"/>
            <a:ext cx="1906852" cy="7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15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ávě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rázek 7">
            <a:extLst>
              <a:ext uri="{FF2B5EF4-FFF2-40B4-BE49-F238E27FC236}">
                <a16:creationId xmlns:a16="http://schemas.microsoft.com/office/drawing/2014/main" id="{4650DC26-31BF-76D0-4245-4AF505C11B6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1997" cy="6857999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58BA8123-C7E2-D717-D7E5-09A00947273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7456" y="2273301"/>
            <a:ext cx="6405794" cy="2311400"/>
          </a:xfrm>
        </p:spPr>
        <p:txBody>
          <a:bodyPr lIns="0" tIns="0" rIns="0" bIns="0" anchor="ctr">
            <a:normAutofit/>
          </a:bodyPr>
          <a:lstStyle>
            <a:lvl1pPr algn="l">
              <a:lnSpc>
                <a:spcPct val="110000"/>
              </a:lnSpc>
              <a:defRPr sz="4000">
                <a:solidFill>
                  <a:schemeClr val="bg1"/>
                </a:solidFill>
              </a:defRPr>
            </a:lvl1pPr>
          </a:lstStyle>
          <a:p>
            <a:r>
              <a:rPr lang="cs-CZ" dirty="0"/>
              <a:t>Vložte text předělu</a:t>
            </a:r>
            <a:br>
              <a:rPr lang="cs-CZ" dirty="0"/>
            </a:br>
            <a:r>
              <a:rPr lang="cs-CZ" dirty="0"/>
              <a:t>(klidně na více řádků)</a:t>
            </a:r>
          </a:p>
        </p:txBody>
      </p:sp>
      <p:sp>
        <p:nvSpPr>
          <p:cNvPr id="4" name="Nadpis 1">
            <a:extLst>
              <a:ext uri="{FF2B5EF4-FFF2-40B4-BE49-F238E27FC236}">
                <a16:creationId xmlns:a16="http://schemas.microsoft.com/office/drawing/2014/main" id="{95661A2A-8174-B162-7CCE-4E3D5F559847}"/>
              </a:ext>
            </a:extLst>
          </p:cNvPr>
          <p:cNvSpPr txBox="1">
            <a:spLocks/>
          </p:cNvSpPr>
          <p:nvPr userDrawn="1"/>
        </p:nvSpPr>
        <p:spPr>
          <a:xfrm>
            <a:off x="959997" y="5795910"/>
            <a:ext cx="2819794" cy="73352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sz="2800" b="1" dirty="0"/>
              <a:t>800 870 884</a:t>
            </a:r>
          </a:p>
        </p:txBody>
      </p:sp>
      <p:pic>
        <p:nvPicPr>
          <p:cNvPr id="6" name="Grafický objekt 5" descr="Sluchátko se souvislou výplní">
            <a:extLst>
              <a:ext uri="{FF2B5EF4-FFF2-40B4-BE49-F238E27FC236}">
                <a16:creationId xmlns:a16="http://schemas.microsoft.com/office/drawing/2014/main" id="{BEED07B5-2600-1A40-9606-97BA12FE4B5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2692843">
            <a:off x="419250" y="5863473"/>
            <a:ext cx="598402" cy="598402"/>
          </a:xfrm>
          <a:prstGeom prst="rect">
            <a:avLst/>
          </a:prstGeom>
        </p:spPr>
      </p:pic>
      <p:sp>
        <p:nvSpPr>
          <p:cNvPr id="9" name="Nadpis 1">
            <a:extLst>
              <a:ext uri="{FF2B5EF4-FFF2-40B4-BE49-F238E27FC236}">
                <a16:creationId xmlns:a16="http://schemas.microsoft.com/office/drawing/2014/main" id="{76E15AA4-0C07-F5D5-8E23-468AD5115EDA}"/>
              </a:ext>
            </a:extLst>
          </p:cNvPr>
          <p:cNvSpPr txBox="1">
            <a:spLocks/>
          </p:cNvSpPr>
          <p:nvPr userDrawn="1"/>
        </p:nvSpPr>
        <p:spPr>
          <a:xfrm>
            <a:off x="4025900" y="5795910"/>
            <a:ext cx="4140200" cy="73352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lvl1pPr algn="l" defTabSz="914400" rtl="0" eaLnBrk="1" latinLnBrk="0" hangingPunct="1">
              <a:lnSpc>
                <a:spcPct val="110000"/>
              </a:lnSpc>
              <a:spcBef>
                <a:spcPct val="0"/>
              </a:spcBef>
              <a:buNone/>
              <a:defRPr sz="4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cs-CZ" sz="2800" b="1" dirty="0"/>
              <a:t>www.cash4car.cz</a:t>
            </a:r>
          </a:p>
        </p:txBody>
      </p:sp>
      <p:pic>
        <p:nvPicPr>
          <p:cNvPr id="5" name="Obrázek 4" descr="Obsah obrázku text, Písmo, Grafika, logo&#10;&#10;Popis byl vytvořen automaticky">
            <a:extLst>
              <a:ext uri="{FF2B5EF4-FFF2-40B4-BE49-F238E27FC236}">
                <a16:creationId xmlns:a16="http://schemas.microsoft.com/office/drawing/2014/main" id="{599D4BE3-23C2-985E-F026-5361925FE7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8602" y="5803914"/>
            <a:ext cx="2491426" cy="95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94946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47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F8ADDCB9-AB5D-DD11-9459-B01ED03C0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1090275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cs-CZ" dirty="0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DA806F7-B800-F586-150F-A0875BB1F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1825625"/>
            <a:ext cx="11090275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cs-CZ" dirty="0"/>
              <a:t>Po kliknutí můžete upravovat styly textu v předloze.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FC5E818-6517-0416-6C55-504BA8B50B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84832C-1B69-41AB-B5D7-FEB525D7480D}" type="datetime11">
              <a:rPr lang="cs-CZ" smtClean="0"/>
              <a:t>12:16:35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0D974BC-D2DB-596A-7C80-C3F718BCB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2A2A687-94FC-AE24-0AD1-28CD49EB6C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D8F433-642A-41AC-BC12-CE412EF5A94A}" type="slidenum">
              <a:rPr lang="cs-CZ" smtClean="0"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61660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62" r:id="rId4"/>
    <p:sldLayoutId id="2147483663" r:id="rId5"/>
    <p:sldLayoutId id="2147483654" r:id="rId6"/>
    <p:sldLayoutId id="2147483661" r:id="rId7"/>
  </p:sldLayoutIdLst>
  <p:hf hdr="0" ft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347" userDrawn="1">
          <p15:clr>
            <a:srgbClr val="F26B43"/>
          </p15:clr>
        </p15:guide>
        <p15:guide id="4" pos="7333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DAC19C7-7FD2-C453-56AA-7970BF804B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456" y="2583610"/>
            <a:ext cx="9144000" cy="1426019"/>
          </a:xfrm>
        </p:spPr>
        <p:txBody>
          <a:bodyPr>
            <a:normAutofit fontScale="90000"/>
          </a:bodyPr>
          <a:lstStyle/>
          <a:p>
            <a:r>
              <a:rPr lang="cs-CZ" dirty="0"/>
              <a:t>Segmentační analýza </a:t>
            </a:r>
            <a:br>
              <a:rPr lang="cs-CZ" dirty="0"/>
            </a:br>
            <a:r>
              <a:rPr lang="cs-CZ" dirty="0">
                <a:solidFill>
                  <a:srgbClr val="EF4123"/>
                </a:solidFill>
              </a:rPr>
              <a:t>CZ klientů </a:t>
            </a:r>
            <a:r>
              <a:rPr lang="cs-CZ" dirty="0"/>
              <a:t>Cash4Car </a:t>
            </a:r>
            <a:br>
              <a:rPr lang="cs-CZ" dirty="0"/>
            </a:br>
            <a:r>
              <a:rPr lang="cs-CZ" sz="3100" b="0" dirty="0"/>
              <a:t>Aktualizace pro roky 2024 a 2025 – věk a regiony, marketing mix</a:t>
            </a:r>
            <a:br>
              <a:rPr lang="cs-CZ" dirty="0"/>
            </a:br>
            <a:endParaRPr lang="cs-CZ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A3A65339-1C0A-751B-4F61-88F3A0F515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7456" y="5427001"/>
            <a:ext cx="9144000" cy="1359349"/>
          </a:xfrm>
        </p:spPr>
        <p:txBody>
          <a:bodyPr>
            <a:normAutofit/>
          </a:bodyPr>
          <a:lstStyle/>
          <a:p>
            <a:r>
              <a:rPr lang="cs-CZ" sz="1600" dirty="0"/>
              <a:t>Martin Kašpar</a:t>
            </a:r>
          </a:p>
          <a:p>
            <a:r>
              <a:rPr lang="cs-CZ" sz="1600" dirty="0"/>
              <a:t>Marketing</a:t>
            </a:r>
          </a:p>
          <a:p>
            <a:r>
              <a:rPr lang="cs-CZ" sz="1600" dirty="0"/>
              <a:t>3.12.2025</a:t>
            </a:r>
          </a:p>
        </p:txBody>
      </p:sp>
    </p:spTree>
    <p:extLst>
      <p:ext uri="{BB962C8B-B14F-4D97-AF65-F5344CB8AC3E}">
        <p14:creationId xmlns:p14="http://schemas.microsoft.com/office/powerpoint/2010/main" val="28252873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209877-8BE8-FF2D-5F3C-323795EC4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455" y="2273301"/>
            <a:ext cx="6905767" cy="2311400"/>
          </a:xfrm>
        </p:spPr>
        <p:txBody>
          <a:bodyPr anchor="ctr"/>
          <a:lstStyle/>
          <a:p>
            <a:r>
              <a:rPr lang="cs-CZ" dirty="0"/>
              <a:t>Segmentace</a:t>
            </a:r>
            <a:endParaRPr lang="cs-CZ" b="0" dirty="0"/>
          </a:p>
        </p:txBody>
      </p:sp>
    </p:spTree>
    <p:extLst>
      <p:ext uri="{BB962C8B-B14F-4D97-AF65-F5344CB8AC3E}">
        <p14:creationId xmlns:p14="http://schemas.microsoft.com/office/powerpoint/2010/main" val="36408423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C166E49-1790-9C66-1DEB-D585AC084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cs-CZ" dirty="0">
                <a:solidFill>
                  <a:schemeClr val="accent2"/>
                </a:solidFill>
              </a:rPr>
              <a:t>1.1 </a:t>
            </a:r>
            <a:r>
              <a:rPr lang="cs-CZ" dirty="0"/>
              <a:t>Souhrn segmentace 2025</a:t>
            </a:r>
            <a:br>
              <a:rPr lang="cs-CZ" dirty="0"/>
            </a:br>
            <a:r>
              <a:rPr lang="cs-CZ" sz="2800" b="0" dirty="0"/>
              <a:t>Přehled segmentů 2025: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257663-3D74-F101-842E-CE3292FA4D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6737" y="1813541"/>
            <a:ext cx="11090275" cy="4351338"/>
          </a:xfrm>
        </p:spPr>
        <p:txBody>
          <a:bodyPr numCol="2" spcCol="360000">
            <a:normAutofit/>
          </a:bodyPr>
          <a:lstStyle/>
          <a:p>
            <a:r>
              <a:rPr lang="cs-CZ" sz="1600" dirty="0"/>
              <a:t>A: počet 3, průměrný věk 30.67 let, podíl 0.62 %</a:t>
            </a:r>
          </a:p>
          <a:p>
            <a:endParaRPr lang="cs-CZ" sz="1600" dirty="0"/>
          </a:p>
          <a:p>
            <a:r>
              <a:rPr lang="cs-CZ" sz="1600" dirty="0"/>
              <a:t>B: počet 3, průměrný věk 30.87 let, podíl 0.62 %</a:t>
            </a:r>
          </a:p>
          <a:p>
            <a:endParaRPr lang="cs-CZ" sz="1600" dirty="0"/>
          </a:p>
          <a:p>
            <a:r>
              <a:rPr lang="cs-CZ" sz="1600" dirty="0"/>
              <a:t>C1: počet 23, průměrný věk 43.02 let, podíl 4.78 %</a:t>
            </a:r>
          </a:p>
          <a:p>
            <a:endParaRPr lang="cs-CZ" sz="1600" dirty="0"/>
          </a:p>
          <a:p>
            <a:r>
              <a:rPr lang="cs-CZ" sz="1600" dirty="0"/>
              <a:t>C2: počet 51, průměrný věk 43.21 let, podíl 10.6 %</a:t>
            </a:r>
          </a:p>
          <a:p>
            <a:endParaRPr lang="cs-CZ" sz="1600" dirty="0"/>
          </a:p>
          <a:p>
            <a:r>
              <a:rPr lang="cs-CZ" sz="1600" dirty="0"/>
              <a:t>C3: počet 145, průměrný věk 44.01 let, podíl 30.15 %</a:t>
            </a:r>
          </a:p>
          <a:p>
            <a:endParaRPr lang="cs-CZ" sz="1600" dirty="0"/>
          </a:p>
          <a:p>
            <a:r>
              <a:rPr lang="cs-CZ" sz="1600" dirty="0"/>
              <a:t>D1: počet 241, průměrný věk 44.33 let, podíl 50.1 %</a:t>
            </a:r>
          </a:p>
          <a:p>
            <a:endParaRPr lang="cs-CZ" sz="1600" dirty="0"/>
          </a:p>
          <a:p>
            <a:r>
              <a:rPr lang="cs-CZ" sz="1600" dirty="0"/>
              <a:t>D2: počet 15, průměrný věk 49.43 let, podíl 3.12 %</a:t>
            </a:r>
          </a:p>
          <a:p>
            <a:pPr lvl="3"/>
            <a:endParaRPr lang="cs-CZ" sz="105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9CD6572-FF43-FF71-6F57-5992CBD4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3</a:t>
            </a:fld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0987DA5E-D232-4B92-E644-7F1C0FA209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842" y="1628431"/>
            <a:ext cx="6138240" cy="1949668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20B20CB7-4514-E9DD-0435-1819AE8B5C55}"/>
              </a:ext>
            </a:extLst>
          </p:cNvPr>
          <p:cNvSpPr/>
          <p:nvPr/>
        </p:nvSpPr>
        <p:spPr>
          <a:xfrm>
            <a:off x="757300" y="3484388"/>
            <a:ext cx="5164145" cy="165961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8067F8F8-E8B8-AE34-DA28-C5A2C5BE4897}"/>
              </a:ext>
            </a:extLst>
          </p:cNvPr>
          <p:cNvSpPr/>
          <p:nvPr/>
        </p:nvSpPr>
        <p:spPr>
          <a:xfrm>
            <a:off x="6050346" y="3713036"/>
            <a:ext cx="5997982" cy="1861026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400" dirty="0"/>
              <a:t>Segmenty jsou tvořené dle parametrů aut neodpovídají kategorizaci domácností (</a:t>
            </a:r>
            <a:r>
              <a:rPr lang="cs-CZ" sz="1400" dirty="0" err="1"/>
              <a:t>Nielsen</a:t>
            </a:r>
            <a:r>
              <a:rPr lang="cs-CZ" sz="1400" dirty="0"/>
              <a:t> </a:t>
            </a:r>
            <a:r>
              <a:rPr lang="cs-CZ" sz="1400" dirty="0" err="1"/>
              <a:t>Admosphere</a:t>
            </a:r>
            <a:r>
              <a:rPr lang="cs-CZ" sz="1400" dirty="0"/>
              <a:t>). Průměrný věk aut v CZ je cca 16,2 let, vykupujeme do 15ti let. Z toho plyne, že kategorie domácností bude lepší než segmenty aut. Tudíž se náš </a:t>
            </a:r>
            <a:r>
              <a:rPr lang="cs-CZ" sz="1400" dirty="0" err="1"/>
              <a:t>core</a:t>
            </a:r>
            <a:r>
              <a:rPr lang="cs-CZ" sz="1400" dirty="0"/>
              <a:t> business odehrává na úrovni C1 průměrná a C2-C3 podprůměrná domácnost. Kategorii E &gt; nezabezpečený </a:t>
            </a:r>
            <a:r>
              <a:rPr lang="cs-CZ" sz="1400" dirty="0" err="1"/>
              <a:t>důchdce</a:t>
            </a:r>
            <a:r>
              <a:rPr lang="cs-CZ" sz="1400" dirty="0"/>
              <a:t>, nezaměstnaný, na hranici chudoby, neoslovovat.</a:t>
            </a:r>
          </a:p>
        </p:txBody>
      </p:sp>
    </p:spTree>
    <p:extLst>
      <p:ext uri="{BB962C8B-B14F-4D97-AF65-F5344CB8AC3E}">
        <p14:creationId xmlns:p14="http://schemas.microsoft.com/office/powerpoint/2010/main" val="30330343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89BCA3-3400-FC88-EB53-0311BC94C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19344E-1DEC-5475-40D7-D0C37D598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1.2 </a:t>
            </a:r>
            <a:r>
              <a:rPr lang="cs-CZ" dirty="0"/>
              <a:t>Souhrn segmentace 2025</a:t>
            </a:r>
            <a:br>
              <a:rPr lang="cs-CZ" dirty="0"/>
            </a:br>
            <a:r>
              <a:rPr lang="cs-CZ" sz="2800" b="0" dirty="0"/>
              <a:t>Distribuce segmentů A–E (2025) </a:t>
            </a:r>
            <a:br>
              <a:rPr lang="cs-CZ" sz="2800" b="0" dirty="0"/>
            </a:br>
            <a:r>
              <a:rPr lang="cs-CZ" sz="2800" b="0" dirty="0"/>
              <a:t>Průměrný věk klientů podle segmentu (2025)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10DEBAC-014B-47CE-A3F3-7315D44A7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4</a:t>
            </a:fld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BDFFDC1E-7C95-11D1-2C93-76C24A3A6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637" y="2226554"/>
            <a:ext cx="5521625" cy="3682829"/>
          </a:xfrm>
          <a:prstGeom prst="rect">
            <a:avLst/>
          </a:prstGeom>
        </p:spPr>
      </p:pic>
      <p:pic>
        <p:nvPicPr>
          <p:cNvPr id="9" name="Obrázek 8">
            <a:extLst>
              <a:ext uri="{FF2B5EF4-FFF2-40B4-BE49-F238E27FC236}">
                <a16:creationId xmlns:a16="http://schemas.microsoft.com/office/drawing/2014/main" id="{122F3AEC-AB86-5A4A-88BA-75016E5EE0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4660" y="2226554"/>
            <a:ext cx="5103560" cy="3682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73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960D7A-54C9-12CB-1188-15ADC9D17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E72D0D-9EA1-6462-A0BF-89BF66D0A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accent2"/>
                </a:solidFill>
              </a:rPr>
              <a:t>1.2.1 </a:t>
            </a:r>
            <a:r>
              <a:rPr lang="cs-CZ" dirty="0"/>
              <a:t>Souhrn segmentace 2025</a:t>
            </a:r>
            <a:br>
              <a:rPr lang="cs-CZ" dirty="0"/>
            </a:br>
            <a:r>
              <a:rPr lang="cs-CZ" sz="2800" b="0" dirty="0"/>
              <a:t>Průměrný věk klientů podle segmentu (2025) histogram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673739A7-7A96-86E2-C3F0-2C3DD1F45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5</a:t>
            </a:fld>
            <a:endParaRPr lang="cs-CZ" dirty="0"/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4F4480FD-94CB-2497-7343-0A046F418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0864" y="1690688"/>
            <a:ext cx="2645170" cy="1325564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C4AB1F6F-7736-4562-4CC9-D6BD0FD55E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0865" y="3107768"/>
            <a:ext cx="2645170" cy="1325564"/>
          </a:xfrm>
          <a:prstGeom prst="rect">
            <a:avLst/>
          </a:prstGeom>
        </p:spPr>
      </p:pic>
      <p:pic>
        <p:nvPicPr>
          <p:cNvPr id="8" name="Obrázek 7">
            <a:extLst>
              <a:ext uri="{FF2B5EF4-FFF2-40B4-BE49-F238E27FC236}">
                <a16:creationId xmlns:a16="http://schemas.microsoft.com/office/drawing/2014/main" id="{D32E404E-144A-91C1-819B-82D5F9CC5B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3923" y="1690688"/>
            <a:ext cx="2645170" cy="1325564"/>
          </a:xfrm>
          <a:prstGeom prst="rect">
            <a:avLst/>
          </a:prstGeom>
        </p:spPr>
      </p:pic>
      <p:pic>
        <p:nvPicPr>
          <p:cNvPr id="10" name="Obrázek 9">
            <a:extLst>
              <a:ext uri="{FF2B5EF4-FFF2-40B4-BE49-F238E27FC236}">
                <a16:creationId xmlns:a16="http://schemas.microsoft.com/office/drawing/2014/main" id="{E81BE1A9-C6A7-18BF-E89B-46F20BB829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43924" y="3107769"/>
            <a:ext cx="2645170" cy="1325564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7FE0589D-B965-E76B-C0E9-DB651CB5446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3923" y="4524850"/>
            <a:ext cx="2645170" cy="1325564"/>
          </a:xfrm>
          <a:prstGeom prst="rect">
            <a:avLst/>
          </a:prstGeom>
        </p:spPr>
      </p:pic>
      <p:pic>
        <p:nvPicPr>
          <p:cNvPr id="12" name="Obrázek 11">
            <a:extLst>
              <a:ext uri="{FF2B5EF4-FFF2-40B4-BE49-F238E27FC236}">
                <a16:creationId xmlns:a16="http://schemas.microsoft.com/office/drawing/2014/main" id="{C54BCF10-0480-DB61-6A5A-6BEB9D52354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7264" y="1690687"/>
            <a:ext cx="2645168" cy="1325563"/>
          </a:xfrm>
          <a:prstGeom prst="rect">
            <a:avLst/>
          </a:prstGeom>
        </p:spPr>
      </p:pic>
      <p:pic>
        <p:nvPicPr>
          <p:cNvPr id="13" name="Obrázek 12">
            <a:extLst>
              <a:ext uri="{FF2B5EF4-FFF2-40B4-BE49-F238E27FC236}">
                <a16:creationId xmlns:a16="http://schemas.microsoft.com/office/drawing/2014/main" id="{DD493944-6C31-3AD8-44EE-470EA73DC12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07265" y="3110269"/>
            <a:ext cx="2645168" cy="1325563"/>
          </a:xfrm>
          <a:prstGeom prst="rect">
            <a:avLst/>
          </a:prstGeom>
        </p:spPr>
      </p:pic>
      <p:pic>
        <p:nvPicPr>
          <p:cNvPr id="14" name="Obrázek 13">
            <a:extLst>
              <a:ext uri="{FF2B5EF4-FFF2-40B4-BE49-F238E27FC236}">
                <a16:creationId xmlns:a16="http://schemas.microsoft.com/office/drawing/2014/main" id="{D624B950-157D-5437-2B50-0D29B35EF6F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2024" y="1690688"/>
            <a:ext cx="3430670" cy="1719198"/>
          </a:xfrm>
          <a:prstGeom prst="rect">
            <a:avLst/>
          </a:prstGeom>
        </p:spPr>
      </p:pic>
      <p:pic>
        <p:nvPicPr>
          <p:cNvPr id="16" name="Obrázek 15" descr="Obsah obrázku text, řada/pruh, číslo, diagram&#10;&#10;Obsah generovaný pomocí AI může být nesprávný.">
            <a:extLst>
              <a:ext uri="{FF2B5EF4-FFF2-40B4-BE49-F238E27FC236}">
                <a16:creationId xmlns:a16="http://schemas.microsoft.com/office/drawing/2014/main" id="{ECEF5C85-A38E-1BE3-2B1D-CF4B37BFCC0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024" y="3543136"/>
            <a:ext cx="3430670" cy="228711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Obrázek 16">
            <a:extLst>
              <a:ext uri="{FF2B5EF4-FFF2-40B4-BE49-F238E27FC236}">
                <a16:creationId xmlns:a16="http://schemas.microsoft.com/office/drawing/2014/main" id="{0B65BC7E-3808-E298-80F6-C1E32CC1F16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72024" y="5963499"/>
            <a:ext cx="2645170" cy="733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437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1FAFC-46F7-B013-B466-E59634E34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C71C0C-8764-5396-CA52-CEA779D1B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/>
          <a:lstStyle/>
          <a:p>
            <a:r>
              <a:rPr lang="cs-CZ" dirty="0">
                <a:solidFill>
                  <a:schemeClr val="accent2"/>
                </a:solidFill>
              </a:rPr>
              <a:t>1.3 </a:t>
            </a:r>
            <a:r>
              <a:rPr lang="cs-CZ" dirty="0"/>
              <a:t>Souhrn segmentace 2025</a:t>
            </a:r>
            <a:br>
              <a:rPr lang="cs-CZ" dirty="0"/>
            </a:br>
            <a:r>
              <a:rPr lang="pl-PL" sz="2800" b="0" dirty="0" err="1"/>
              <a:t>Četnost</a:t>
            </a:r>
            <a:r>
              <a:rPr lang="pl-PL" sz="2800" b="0" dirty="0"/>
              <a:t> </a:t>
            </a:r>
            <a:r>
              <a:rPr lang="pl-PL" sz="2800" b="0" dirty="0" err="1"/>
              <a:t>klientů</a:t>
            </a:r>
            <a:r>
              <a:rPr lang="pl-PL" sz="2800" b="0" dirty="0"/>
              <a:t> </a:t>
            </a:r>
            <a:r>
              <a:rPr lang="pl-PL" sz="2800" b="0" dirty="0" err="1"/>
              <a:t>dle</a:t>
            </a:r>
            <a:r>
              <a:rPr lang="pl-PL" sz="2800" b="0" dirty="0"/>
              <a:t> segmentu a kraje (2025)</a:t>
            </a: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D233275-BF16-F5C6-F2EA-FDB51C233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6</a:t>
            </a:fld>
            <a:endParaRPr lang="cs-CZ" dirty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908E60E1-9F06-2AE1-295F-3924BEBD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184" y="1690688"/>
            <a:ext cx="7120173" cy="4272104"/>
          </a:xfrm>
          <a:prstGeom prst="rect">
            <a:avLst/>
          </a:prstGeom>
        </p:spPr>
      </p:pic>
      <p:pic>
        <p:nvPicPr>
          <p:cNvPr id="3" name="Obrázek 2">
            <a:extLst>
              <a:ext uri="{FF2B5EF4-FFF2-40B4-BE49-F238E27FC236}">
                <a16:creationId xmlns:a16="http://schemas.microsoft.com/office/drawing/2014/main" id="{8B3C34D2-3EB4-CE4C-6514-42F399D3CB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41323" y="1690688"/>
            <a:ext cx="4578493" cy="2792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206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61F54-5890-17A0-E034-C66B5C37E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6950C7-315C-57A2-F7A4-67C45B7914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2.1 </a:t>
            </a:r>
            <a:r>
              <a:rPr lang="cs-CZ" dirty="0"/>
              <a:t>Porovnání segmentů 2025 vs. 2024</a:t>
            </a:r>
            <a:br>
              <a:rPr lang="cs-CZ" dirty="0"/>
            </a:br>
            <a:r>
              <a:rPr lang="cs-CZ" sz="2800" b="0" dirty="0"/>
              <a:t>Změny v počtech klientů podle segmentů: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4E65B9B-8159-5333-60AB-ADAFC734D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44826" y="1806260"/>
            <a:ext cx="8631237" cy="4523417"/>
          </a:xfrm>
        </p:spPr>
        <p:txBody>
          <a:bodyPr numCol="2" spcCol="360000">
            <a:normAutofit/>
          </a:bodyPr>
          <a:lstStyle/>
          <a:p>
            <a:r>
              <a:rPr lang="cs-CZ" sz="1600" dirty="0"/>
              <a:t>A: 2025 = 3, 2024 = 1, změna = 2</a:t>
            </a:r>
          </a:p>
          <a:p>
            <a:endParaRPr lang="cs-CZ" sz="1600" dirty="0"/>
          </a:p>
          <a:p>
            <a:r>
              <a:rPr lang="cs-CZ" sz="1600" dirty="0"/>
              <a:t>B: 2025 = 3, 2024 = 5, změna = </a:t>
            </a:r>
            <a:r>
              <a:rPr lang="cs-CZ" sz="1600" dirty="0">
                <a:solidFill>
                  <a:srgbClr val="FF0000"/>
                </a:solidFill>
              </a:rPr>
              <a:t>-2</a:t>
            </a:r>
          </a:p>
          <a:p>
            <a:endParaRPr lang="cs-CZ" sz="1600" dirty="0"/>
          </a:p>
          <a:p>
            <a:r>
              <a:rPr lang="cs-CZ" sz="1600" dirty="0"/>
              <a:t>C1: 2025 = 23, 2024 = 8, změna = 15</a:t>
            </a:r>
          </a:p>
          <a:p>
            <a:endParaRPr lang="cs-CZ" sz="1600" dirty="0"/>
          </a:p>
          <a:p>
            <a:r>
              <a:rPr lang="cs-CZ" sz="1600" dirty="0"/>
              <a:t>C2: 2025 = 51, 2024 = 32, změna = 19</a:t>
            </a:r>
          </a:p>
          <a:p>
            <a:endParaRPr lang="cs-CZ" sz="1600" dirty="0"/>
          </a:p>
          <a:p>
            <a:r>
              <a:rPr lang="cs-CZ" sz="1600" dirty="0"/>
              <a:t>C3: 2025 = 145, 2024 = 67, změna = 78</a:t>
            </a:r>
          </a:p>
          <a:p>
            <a:endParaRPr lang="cs-CZ" sz="1600" dirty="0"/>
          </a:p>
          <a:p>
            <a:r>
              <a:rPr lang="cs-CZ" sz="1600" dirty="0"/>
              <a:t>D1: 2025 = 241, 2024 = 102, změna = 139</a:t>
            </a:r>
          </a:p>
          <a:p>
            <a:endParaRPr lang="cs-CZ" sz="1600" dirty="0"/>
          </a:p>
          <a:p>
            <a:r>
              <a:rPr lang="cs-CZ" sz="1600" dirty="0"/>
              <a:t>D2: 2025 = 15, 2024 = 72, změna = </a:t>
            </a:r>
            <a:r>
              <a:rPr lang="cs-CZ" sz="1600" dirty="0">
                <a:solidFill>
                  <a:srgbClr val="FF0000"/>
                </a:solidFill>
              </a:rPr>
              <a:t>-57</a:t>
            </a:r>
          </a:p>
          <a:p>
            <a:endParaRPr lang="cs-CZ" sz="1600" dirty="0"/>
          </a:p>
          <a:p>
            <a:r>
              <a:rPr lang="cs-CZ" sz="1600" dirty="0"/>
              <a:t>E: 2025 = 0, 2024 = 7, změna = </a:t>
            </a:r>
            <a:r>
              <a:rPr lang="cs-CZ" sz="1600" dirty="0">
                <a:solidFill>
                  <a:srgbClr val="FF0000"/>
                </a:solidFill>
              </a:rPr>
              <a:t>-7</a:t>
            </a:r>
          </a:p>
          <a:p>
            <a:pPr lvl="3"/>
            <a:endParaRPr lang="cs-CZ" sz="105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3F517AA-86C5-53BD-4813-24BE5D28D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7</a:t>
            </a:fld>
            <a:endParaRPr lang="cs-CZ" dirty="0"/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7B81CE08-5217-BDA4-881B-B00F5D612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1627" y="1680281"/>
            <a:ext cx="5174468" cy="2387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3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FE962-6299-17BB-D818-F26ED24053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B84EE04-427A-23EA-8A93-34D547058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9075737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accent2"/>
                </a:solidFill>
              </a:rPr>
              <a:t>3.1 </a:t>
            </a:r>
            <a:r>
              <a:rPr lang="cs-CZ" dirty="0"/>
              <a:t>Typický klient a trend skóre</a:t>
            </a:r>
            <a:br>
              <a:rPr lang="cs-CZ" dirty="0"/>
            </a:br>
            <a:r>
              <a:rPr lang="cs-CZ" sz="2800" b="0" dirty="0"/>
              <a:t>Průměrné hodnoty 2024 vs 2025: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49D1581-3FE7-848D-62EF-77BA70BDE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06260"/>
            <a:ext cx="11560624" cy="4523417"/>
          </a:xfrm>
        </p:spPr>
        <p:txBody>
          <a:bodyPr numCol="2" spcCol="360000">
            <a:normAutofit/>
          </a:bodyPr>
          <a:lstStyle/>
          <a:p>
            <a:r>
              <a:rPr lang="cs-CZ" sz="1400" dirty="0" err="1"/>
              <a:t>trzni_cena</a:t>
            </a:r>
            <a:r>
              <a:rPr lang="cs-CZ" sz="1400" dirty="0"/>
              <a:t>: 2024 = 262149.66, 2025 = 256067.57</a:t>
            </a:r>
          </a:p>
          <a:p>
            <a:endParaRPr lang="cs-CZ" sz="1400" dirty="0"/>
          </a:p>
          <a:p>
            <a:r>
              <a:rPr lang="cs-CZ" sz="1400" dirty="0" err="1"/>
              <a:t>stari_auta</a:t>
            </a:r>
            <a:r>
              <a:rPr lang="cs-CZ" sz="1400" dirty="0"/>
              <a:t>: 2024 = 10.76, 2025 = 10.09</a:t>
            </a:r>
          </a:p>
          <a:p>
            <a:endParaRPr lang="cs-CZ" sz="1400" dirty="0"/>
          </a:p>
          <a:p>
            <a:r>
              <a:rPr lang="cs-CZ" sz="1400" dirty="0" err="1"/>
              <a:t>najeto_km</a:t>
            </a:r>
            <a:r>
              <a:rPr lang="cs-CZ" sz="1400" dirty="0"/>
              <a:t>: 2024 = 165735.6, 2025 = 162542.36</a:t>
            </a:r>
          </a:p>
          <a:p>
            <a:endParaRPr lang="cs-CZ" sz="1400" dirty="0"/>
          </a:p>
          <a:p>
            <a:r>
              <a:rPr lang="cs-CZ" sz="1400" dirty="0" err="1"/>
              <a:t>score</a:t>
            </a:r>
            <a:r>
              <a:rPr lang="cs-CZ" sz="1400" dirty="0"/>
              <a:t>: 2024 = 28.53, 2025 = 31.76</a:t>
            </a:r>
          </a:p>
          <a:p>
            <a:endParaRPr lang="cs-CZ" sz="1400" dirty="0"/>
          </a:p>
          <a:p>
            <a:r>
              <a:rPr lang="cs-CZ" sz="1400" dirty="0"/>
              <a:t>vek: 2024 = 39.97, 2025 = 44.05</a:t>
            </a:r>
          </a:p>
          <a:p>
            <a:endParaRPr lang="cs-CZ" sz="1400" dirty="0"/>
          </a:p>
          <a:p>
            <a:r>
              <a:rPr lang="cs-CZ" sz="1400" dirty="0"/>
              <a:t>Predikované průměrné skóre pro 2026: 35.0</a:t>
            </a:r>
          </a:p>
          <a:p>
            <a:pPr lvl="3"/>
            <a:endParaRPr lang="cs-CZ" sz="6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5FE5313-AC0F-8237-FD01-32032307A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8</a:t>
            </a:fld>
            <a:endParaRPr lang="cs-CZ"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A05FE23-A4D4-4757-F334-521E517B3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5861" y="1806260"/>
            <a:ext cx="2766433" cy="1752924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E5EB84C9-4E06-99E9-05DA-7D046303F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5784" y="3674756"/>
            <a:ext cx="2766356" cy="184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1336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209877-8BE8-FF2D-5F3C-323795EC4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455" y="2273301"/>
            <a:ext cx="6905767" cy="2311400"/>
          </a:xfrm>
        </p:spPr>
        <p:txBody>
          <a:bodyPr anchor="ctr"/>
          <a:lstStyle/>
          <a:p>
            <a:r>
              <a:rPr lang="cs-CZ" dirty="0"/>
              <a:t>Marketingová strategie </a:t>
            </a:r>
            <a:r>
              <a:rPr lang="cs-CZ" b="0" dirty="0"/>
              <a:t>(AI)</a:t>
            </a:r>
          </a:p>
        </p:txBody>
      </p:sp>
    </p:spTree>
    <p:extLst>
      <p:ext uri="{BB962C8B-B14F-4D97-AF65-F5344CB8AC3E}">
        <p14:creationId xmlns:p14="http://schemas.microsoft.com/office/powerpoint/2010/main" val="11993964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14B8F-5E9C-0601-1587-7E1C9FE56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401AF7-E1F0-6349-2721-E4ED65DE0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4.1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Návrh AI - komunikace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4C7922A-F302-712E-2C74-3742BECF9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10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414A80E-04C3-F0DB-5C6F-F2A660B766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401812"/>
            <a:ext cx="11226560" cy="5236652"/>
          </a:xfrm>
        </p:spPr>
        <p:txBody>
          <a:bodyPr>
            <a:noAutofit/>
          </a:bodyPr>
          <a:lstStyle/>
          <a:p>
            <a:r>
              <a:rPr sz="1200" dirty="0"/>
              <a:t>Segment A – Elita:</a:t>
            </a:r>
          </a:p>
          <a:p>
            <a:r>
              <a:rPr sz="1200" b="0" u="sng" dirty="0" err="1"/>
              <a:t>Prémiová</a:t>
            </a:r>
            <a:r>
              <a:rPr sz="1200" b="0" u="sng" dirty="0"/>
              <a:t> </a:t>
            </a:r>
            <a:r>
              <a:rPr sz="1200" b="0" u="sng" dirty="0" err="1"/>
              <a:t>komunikace</a:t>
            </a:r>
            <a:r>
              <a:rPr sz="1200" b="0" dirty="0"/>
              <a:t>, </a:t>
            </a:r>
            <a:r>
              <a:rPr sz="1200" b="0" dirty="0" err="1"/>
              <a:t>důraz</a:t>
            </a:r>
            <a:r>
              <a:rPr sz="1200" b="0" dirty="0"/>
              <a:t> </a:t>
            </a:r>
            <a:r>
              <a:rPr sz="1200" b="0" dirty="0" err="1"/>
              <a:t>na</a:t>
            </a:r>
            <a:r>
              <a:rPr sz="1200" b="0" dirty="0"/>
              <a:t> </a:t>
            </a:r>
            <a:r>
              <a:rPr sz="1200" b="0" dirty="0" err="1"/>
              <a:t>diskrétnost</a:t>
            </a:r>
            <a:r>
              <a:rPr sz="1200" b="0" dirty="0"/>
              <a:t> a </a:t>
            </a:r>
            <a:r>
              <a:rPr sz="1200" b="0" dirty="0" err="1"/>
              <a:t>individualizaci</a:t>
            </a:r>
            <a:r>
              <a:rPr sz="1200" b="0" dirty="0"/>
              <a:t>.</a:t>
            </a:r>
            <a:endParaRPr lang="cs-CZ" sz="1200" b="0" dirty="0"/>
          </a:p>
          <a:p>
            <a:r>
              <a:rPr lang="cs-CZ" sz="1200" b="0" i="1" dirty="0">
                <a:solidFill>
                  <a:schemeClr val="tx1"/>
                </a:solidFill>
              </a:rPr>
              <a:t>Nutné udělat cenovou nabídku pro A,B segment</a:t>
            </a:r>
            <a:endParaRPr sz="1200" b="0" i="1" dirty="0">
              <a:solidFill>
                <a:schemeClr val="tx1"/>
              </a:solidFill>
            </a:endParaRPr>
          </a:p>
          <a:p>
            <a:r>
              <a:rPr sz="1200" b="0" dirty="0" err="1"/>
              <a:t>Zdůraznit</a:t>
            </a:r>
            <a:r>
              <a:rPr sz="1200" b="0" dirty="0"/>
              <a:t> Cash4Car </a:t>
            </a:r>
            <a:r>
              <a:rPr sz="1200" b="0" dirty="0" err="1"/>
              <a:t>jako</a:t>
            </a:r>
            <a:r>
              <a:rPr sz="1200" b="0" dirty="0"/>
              <a:t> </a:t>
            </a:r>
            <a:r>
              <a:rPr sz="1200" b="0" dirty="0" err="1"/>
              <a:t>komfortní</a:t>
            </a:r>
            <a:r>
              <a:rPr sz="1200" b="0" dirty="0"/>
              <a:t>, </a:t>
            </a:r>
            <a:r>
              <a:rPr sz="1200" b="0" dirty="0" err="1"/>
              <a:t>rychlou</a:t>
            </a:r>
            <a:r>
              <a:rPr sz="1200" b="0" dirty="0"/>
              <a:t> a </a:t>
            </a:r>
            <a:r>
              <a:rPr sz="1200" b="0" u="sng" dirty="0" err="1"/>
              <a:t>bezpečnou</a:t>
            </a:r>
            <a:r>
              <a:rPr sz="1200" b="0" u="sng" dirty="0"/>
              <a:t> </a:t>
            </a:r>
            <a:r>
              <a:rPr sz="1200" b="0" u="sng" dirty="0" err="1"/>
              <a:t>službu</a:t>
            </a:r>
            <a:r>
              <a:rPr sz="1200" b="0" dirty="0"/>
              <a:t>.</a:t>
            </a:r>
            <a:endParaRPr lang="cs-CZ" sz="1200" b="0" dirty="0"/>
          </a:p>
          <a:p>
            <a:r>
              <a:rPr lang="cs-CZ" sz="1200" b="0" i="1" dirty="0">
                <a:solidFill>
                  <a:schemeClr val="tx1"/>
                </a:solidFill>
              </a:rPr>
              <a:t>Komunikovat sub-</a:t>
            </a:r>
            <a:r>
              <a:rPr lang="cs-CZ" sz="1200" b="0" i="1" dirty="0" err="1">
                <a:solidFill>
                  <a:schemeClr val="tx1"/>
                </a:solidFill>
              </a:rPr>
              <a:t>brand</a:t>
            </a:r>
            <a:r>
              <a:rPr lang="cs-CZ" sz="1200" b="0" i="1" dirty="0">
                <a:solidFill>
                  <a:schemeClr val="tx1"/>
                </a:solidFill>
              </a:rPr>
              <a:t> Cash4Car PREMIUM…</a:t>
            </a:r>
            <a:endParaRPr sz="1200" b="0" i="1" dirty="0">
              <a:solidFill>
                <a:schemeClr val="tx1"/>
              </a:solidFill>
            </a:endParaRPr>
          </a:p>
          <a:p>
            <a:r>
              <a:rPr sz="1200" b="0" dirty="0"/>
              <a:t>VIP </a:t>
            </a:r>
            <a:r>
              <a:rPr sz="1200" b="0" dirty="0" err="1"/>
              <a:t>přístup</a:t>
            </a:r>
            <a:r>
              <a:rPr sz="1200" b="0" dirty="0"/>
              <a:t> – </a:t>
            </a:r>
            <a:r>
              <a:rPr sz="1200" b="0" dirty="0" err="1"/>
              <a:t>osobní</a:t>
            </a:r>
            <a:r>
              <a:rPr sz="1200" b="0" dirty="0"/>
              <a:t> </a:t>
            </a:r>
            <a:r>
              <a:rPr sz="1200" b="0" dirty="0" err="1"/>
              <a:t>vyzvednutí</a:t>
            </a:r>
            <a:r>
              <a:rPr sz="1200" b="0" dirty="0"/>
              <a:t>, </a:t>
            </a:r>
            <a:r>
              <a:rPr sz="1200" b="0" dirty="0" err="1"/>
              <a:t>péče</a:t>
            </a:r>
            <a:r>
              <a:rPr sz="1200" b="0" dirty="0"/>
              <a:t> o </a:t>
            </a:r>
            <a:r>
              <a:rPr sz="1200" b="0" dirty="0" err="1"/>
              <a:t>vůz</a:t>
            </a:r>
            <a:r>
              <a:rPr sz="1200" b="0" dirty="0"/>
              <a:t>, top </a:t>
            </a:r>
            <a:r>
              <a:rPr sz="1200" b="0" dirty="0" err="1"/>
              <a:t>garance</a:t>
            </a:r>
            <a:r>
              <a:rPr sz="1200" b="0" dirty="0"/>
              <a:t>.</a:t>
            </a:r>
          </a:p>
          <a:p>
            <a:endParaRPr sz="1200" dirty="0"/>
          </a:p>
          <a:p>
            <a:r>
              <a:rPr sz="1200" dirty="0"/>
              <a:t>Segment B – </a:t>
            </a:r>
            <a:r>
              <a:rPr sz="1200" dirty="0" err="1"/>
              <a:t>Vysoce</a:t>
            </a:r>
            <a:r>
              <a:rPr sz="1200" dirty="0"/>
              <a:t> </a:t>
            </a:r>
            <a:r>
              <a:rPr sz="1200" dirty="0" err="1"/>
              <a:t>bonitní</a:t>
            </a:r>
            <a:r>
              <a:rPr sz="1200" dirty="0"/>
              <a:t>:</a:t>
            </a:r>
          </a:p>
          <a:p>
            <a:r>
              <a:rPr sz="1200" b="0" dirty="0" err="1"/>
              <a:t>Rychlost</a:t>
            </a:r>
            <a:r>
              <a:rPr sz="1200" b="0" dirty="0"/>
              <a:t>, </a:t>
            </a:r>
            <a:r>
              <a:rPr sz="1200" b="0" dirty="0" err="1"/>
              <a:t>jistota</a:t>
            </a:r>
            <a:r>
              <a:rPr sz="1200" b="0" dirty="0"/>
              <a:t>, </a:t>
            </a:r>
            <a:r>
              <a:rPr sz="1200" b="0" dirty="0" err="1"/>
              <a:t>profesionalita</a:t>
            </a:r>
            <a:r>
              <a:rPr sz="1200" b="0" dirty="0"/>
              <a:t>.</a:t>
            </a:r>
          </a:p>
          <a:p>
            <a:r>
              <a:rPr sz="1200" b="0" u="sng" dirty="0" err="1"/>
              <a:t>Prémiová</a:t>
            </a:r>
            <a:r>
              <a:rPr sz="1200" b="0" u="sng" dirty="0"/>
              <a:t> </a:t>
            </a:r>
            <a:r>
              <a:rPr sz="1200" b="0" u="sng" dirty="0" err="1"/>
              <a:t>nabídka</a:t>
            </a:r>
            <a:r>
              <a:rPr sz="1200" b="0" u="sng" dirty="0"/>
              <a:t>, </a:t>
            </a:r>
            <a:r>
              <a:rPr sz="1200" b="0" u="sng" dirty="0" err="1"/>
              <a:t>personalizované</a:t>
            </a:r>
            <a:r>
              <a:rPr sz="1200" b="0" u="sng" dirty="0"/>
              <a:t> </a:t>
            </a:r>
            <a:r>
              <a:rPr sz="1200" b="0" u="sng" dirty="0" err="1"/>
              <a:t>nacenění</a:t>
            </a:r>
            <a:r>
              <a:rPr sz="1200" b="0" u="sng" dirty="0"/>
              <a:t>.</a:t>
            </a:r>
          </a:p>
          <a:p>
            <a:r>
              <a:rPr sz="1200" b="0" dirty="0" err="1"/>
              <a:t>Obsah</a:t>
            </a:r>
            <a:r>
              <a:rPr sz="1200" b="0" dirty="0"/>
              <a:t> </a:t>
            </a:r>
            <a:r>
              <a:rPr sz="1200" b="0" dirty="0" err="1"/>
              <a:t>zaměřený</a:t>
            </a:r>
            <a:r>
              <a:rPr sz="1200" b="0" dirty="0"/>
              <a:t> </a:t>
            </a:r>
            <a:r>
              <a:rPr sz="1200" b="0" dirty="0" err="1"/>
              <a:t>na</a:t>
            </a:r>
            <a:r>
              <a:rPr sz="1200" b="0" dirty="0"/>
              <a:t> </a:t>
            </a:r>
            <a:r>
              <a:rPr sz="1200" b="0" dirty="0" err="1"/>
              <a:t>časové</a:t>
            </a:r>
            <a:r>
              <a:rPr sz="1200" b="0" dirty="0"/>
              <a:t> </a:t>
            </a:r>
            <a:r>
              <a:rPr sz="1200" b="0" dirty="0" err="1"/>
              <a:t>úspory</a:t>
            </a:r>
            <a:r>
              <a:rPr sz="1200" b="0" dirty="0"/>
              <a:t> a </a:t>
            </a:r>
            <a:r>
              <a:rPr sz="1200" b="0" dirty="0" err="1"/>
              <a:t>spolehlivost</a:t>
            </a:r>
            <a:r>
              <a:rPr sz="1200" b="0" dirty="0"/>
              <a:t>.</a:t>
            </a:r>
          </a:p>
          <a:p>
            <a:endParaRPr sz="1200" dirty="0"/>
          </a:p>
          <a:p>
            <a:r>
              <a:rPr sz="1200" dirty="0"/>
              <a:t>Segment C1 – </a:t>
            </a:r>
            <a:r>
              <a:rPr sz="1200" dirty="0" err="1"/>
              <a:t>Horní</a:t>
            </a:r>
            <a:r>
              <a:rPr sz="1200" dirty="0"/>
              <a:t> </a:t>
            </a:r>
            <a:r>
              <a:rPr sz="1200" dirty="0" err="1"/>
              <a:t>střední</a:t>
            </a:r>
            <a:r>
              <a:rPr sz="1200" dirty="0"/>
              <a:t> </a:t>
            </a:r>
            <a:r>
              <a:rPr sz="1200" dirty="0" err="1"/>
              <a:t>třída</a:t>
            </a:r>
            <a:r>
              <a:rPr sz="1200" dirty="0"/>
              <a:t>:</a:t>
            </a:r>
          </a:p>
          <a:p>
            <a:r>
              <a:rPr sz="1200" b="0" dirty="0" err="1"/>
              <a:t>Férovost</a:t>
            </a:r>
            <a:r>
              <a:rPr sz="1200" b="0" dirty="0"/>
              <a:t>, </a:t>
            </a:r>
            <a:r>
              <a:rPr sz="1200" b="0" dirty="0" err="1"/>
              <a:t>jistota</a:t>
            </a:r>
            <a:r>
              <a:rPr sz="1200" b="0" dirty="0"/>
              <a:t> </a:t>
            </a:r>
            <a:r>
              <a:rPr sz="1200" b="0" dirty="0" err="1"/>
              <a:t>ceny</a:t>
            </a:r>
            <a:r>
              <a:rPr sz="1200" b="0" dirty="0"/>
              <a:t>, </a:t>
            </a:r>
            <a:r>
              <a:rPr sz="1200" b="0" dirty="0" err="1"/>
              <a:t>jednoduchý</a:t>
            </a:r>
            <a:r>
              <a:rPr sz="1200" b="0" dirty="0"/>
              <a:t> </a:t>
            </a:r>
            <a:r>
              <a:rPr sz="1200" b="0" dirty="0" err="1"/>
              <a:t>proces</a:t>
            </a:r>
            <a:r>
              <a:rPr sz="1200" b="0" dirty="0"/>
              <a:t>.</a:t>
            </a:r>
          </a:p>
          <a:p>
            <a:r>
              <a:rPr sz="1200" b="0" dirty="0" err="1"/>
              <a:t>Důraz</a:t>
            </a:r>
            <a:r>
              <a:rPr sz="1200" b="0" dirty="0"/>
              <a:t> </a:t>
            </a:r>
            <a:r>
              <a:rPr sz="1200" b="0" dirty="0" err="1"/>
              <a:t>na</a:t>
            </a:r>
            <a:r>
              <a:rPr sz="1200" b="0" dirty="0"/>
              <a:t> </a:t>
            </a:r>
            <a:r>
              <a:rPr sz="1200" b="0" dirty="0" err="1"/>
              <a:t>rychlé</a:t>
            </a:r>
            <a:r>
              <a:rPr sz="1200" b="0" dirty="0"/>
              <a:t> </a:t>
            </a:r>
            <a:r>
              <a:rPr sz="1200" b="0" dirty="0" err="1"/>
              <a:t>vyřízení</a:t>
            </a:r>
            <a:r>
              <a:rPr sz="1200" b="0" dirty="0"/>
              <a:t> a minimum </a:t>
            </a:r>
            <a:r>
              <a:rPr sz="1200" b="0" dirty="0" err="1"/>
              <a:t>administrativy</a:t>
            </a:r>
            <a:r>
              <a:rPr sz="1200" b="0" dirty="0"/>
              <a:t>.</a:t>
            </a:r>
          </a:p>
          <a:p>
            <a:r>
              <a:rPr sz="1200" b="0" u="sng" dirty="0" err="1"/>
              <a:t>Reálné</a:t>
            </a:r>
            <a:r>
              <a:rPr sz="1200" b="0" u="sng" dirty="0"/>
              <a:t> </a:t>
            </a:r>
            <a:r>
              <a:rPr sz="1200" b="0" u="sng" dirty="0" err="1"/>
              <a:t>příklady</a:t>
            </a:r>
            <a:r>
              <a:rPr sz="1200" b="0" u="sng" dirty="0"/>
              <a:t> </a:t>
            </a:r>
            <a:r>
              <a:rPr sz="1200" b="0" u="sng" dirty="0" err="1"/>
              <a:t>klientů</a:t>
            </a:r>
            <a:r>
              <a:rPr sz="1200" b="0" u="sng" dirty="0"/>
              <a:t> </a:t>
            </a:r>
            <a:r>
              <a:rPr sz="1200" b="0" dirty="0"/>
              <a:t>– </a:t>
            </a:r>
            <a:r>
              <a:rPr sz="1200" b="0" dirty="0" err="1"/>
              <a:t>rodiny</a:t>
            </a:r>
            <a:r>
              <a:rPr sz="1200" b="0" dirty="0"/>
              <a:t>, </a:t>
            </a:r>
            <a:r>
              <a:rPr sz="1200" b="0" dirty="0" err="1"/>
              <a:t>lidé</a:t>
            </a:r>
            <a:r>
              <a:rPr sz="1200" b="0" dirty="0"/>
              <a:t> </a:t>
            </a:r>
            <a:r>
              <a:rPr sz="1200" b="0" dirty="0" err="1"/>
              <a:t>řešící</a:t>
            </a:r>
            <a:r>
              <a:rPr sz="1200" b="0" dirty="0"/>
              <a:t> </a:t>
            </a:r>
            <a:r>
              <a:rPr sz="1200" b="0" dirty="0" err="1"/>
              <a:t>změnu</a:t>
            </a:r>
            <a:r>
              <a:rPr sz="1200" b="0" dirty="0"/>
              <a:t> </a:t>
            </a:r>
            <a:r>
              <a:rPr sz="1200" b="0" dirty="0" err="1"/>
              <a:t>auta</a:t>
            </a:r>
            <a:r>
              <a:rPr sz="1200" b="0" dirty="0"/>
              <a:t>.</a:t>
            </a:r>
            <a:endParaRPr lang="cs-CZ" sz="1200" b="0" dirty="0"/>
          </a:p>
          <a:p>
            <a:endParaRPr lang="cs-CZ" sz="1200" b="0" dirty="0"/>
          </a:p>
          <a:p>
            <a:r>
              <a:rPr lang="cs-CZ" sz="1200" dirty="0"/>
              <a:t>Segment C2 – Střední třída:</a:t>
            </a:r>
          </a:p>
          <a:p>
            <a:r>
              <a:rPr lang="cs-CZ" sz="1200" b="0" dirty="0"/>
              <a:t>Důraz na transparentnost, rychlou platbu a bezpečnost.</a:t>
            </a:r>
          </a:p>
          <a:p>
            <a:r>
              <a:rPr lang="cs-CZ" sz="1200" b="0" dirty="0"/>
              <a:t>Ideální pro klienty řešící životní situace (stěhování, rozvod, prodej auta).</a:t>
            </a:r>
          </a:p>
          <a:p>
            <a:r>
              <a:rPr lang="cs-CZ" sz="1200" b="0" u="sng" dirty="0"/>
              <a:t>Komunikovat „bez starostí“, férovou cenu </a:t>
            </a:r>
            <a:r>
              <a:rPr lang="cs-CZ" sz="1200" b="0" dirty="0"/>
              <a:t>a okamžitou nabídku.</a:t>
            </a:r>
          </a:p>
          <a:p>
            <a:endParaRPr lang="cs-CZ" sz="1200" b="0" dirty="0"/>
          </a:p>
          <a:p>
            <a:r>
              <a:rPr lang="cs-CZ" sz="1200" dirty="0"/>
              <a:t>Segment C3 – Dolní střední třída:</a:t>
            </a:r>
          </a:p>
          <a:p>
            <a:r>
              <a:rPr lang="cs-CZ" sz="1200" b="0" dirty="0"/>
              <a:t>Největší masový segment.</a:t>
            </a:r>
          </a:p>
          <a:p>
            <a:r>
              <a:rPr lang="cs-CZ" sz="1200" b="0" dirty="0"/>
              <a:t>Cenová citlivost – </a:t>
            </a:r>
            <a:r>
              <a:rPr lang="cs-CZ" sz="1200" b="0" u="sng" dirty="0"/>
              <a:t>komunikovat rychlé peníze, jednoduchost a jistotu</a:t>
            </a:r>
            <a:r>
              <a:rPr lang="cs-CZ" sz="1200" b="0" dirty="0"/>
              <a:t>.</a:t>
            </a:r>
          </a:p>
          <a:p>
            <a:r>
              <a:rPr lang="cs-CZ" sz="1200" b="0" dirty="0"/>
              <a:t>Silné performance kampaně: Google, FB, </a:t>
            </a:r>
            <a:r>
              <a:rPr lang="cs-CZ" sz="1200" b="0" dirty="0" err="1"/>
              <a:t>remarketing</a:t>
            </a:r>
            <a:r>
              <a:rPr lang="cs-CZ" sz="1200" b="0" dirty="0"/>
              <a:t>, </a:t>
            </a:r>
            <a:r>
              <a:rPr lang="cs-CZ" sz="1200" b="0" dirty="0" err="1"/>
              <a:t>Sklik</a:t>
            </a:r>
            <a:r>
              <a:rPr lang="cs-CZ" sz="1200" b="0" dirty="0"/>
              <a:t>.</a:t>
            </a:r>
          </a:p>
          <a:p>
            <a:endParaRPr lang="cs-CZ" sz="1200" dirty="0"/>
          </a:p>
          <a:p>
            <a:r>
              <a:rPr lang="cs-CZ" sz="1200" dirty="0"/>
              <a:t>Segment D1/D2:</a:t>
            </a:r>
          </a:p>
          <a:p>
            <a:r>
              <a:rPr lang="cs-CZ" sz="1200" b="0" dirty="0"/>
              <a:t>Komunikovat ekologickou likvidaci, bezpečné převzetí starých vozů.</a:t>
            </a:r>
          </a:p>
          <a:p>
            <a:r>
              <a:rPr lang="cs-CZ" sz="1200" b="0" dirty="0"/>
              <a:t>Vhodné pobídky – bonus za staré auto, odvoz zdarma. </a:t>
            </a:r>
            <a:r>
              <a:rPr lang="cs-CZ" sz="1200" b="0" i="1" dirty="0">
                <a:solidFill>
                  <a:schemeClr val="tx1"/>
                </a:solidFill>
              </a:rPr>
              <a:t>Toto je mimo.</a:t>
            </a:r>
            <a:endParaRPr lang="cs-CZ" sz="1200" b="0" dirty="0"/>
          </a:p>
          <a:p>
            <a:endParaRPr lang="cs-CZ" sz="1200" dirty="0"/>
          </a:p>
          <a:p>
            <a:r>
              <a:rPr lang="cs-CZ" sz="1200" dirty="0"/>
              <a:t>Segment E:</a:t>
            </a:r>
          </a:p>
          <a:p>
            <a:r>
              <a:rPr lang="cs-CZ" sz="1200" b="0" dirty="0"/>
              <a:t>Individuální nacenění, personalizovaná komunikace.</a:t>
            </a:r>
          </a:p>
          <a:p>
            <a:endParaRPr sz="1200" dirty="0"/>
          </a:p>
          <a:p>
            <a:endParaRPr sz="1200" dirty="0"/>
          </a:p>
          <a:p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35B753D-0016-2FE5-70BE-3976323AC671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  <p:sp>
        <p:nvSpPr>
          <p:cNvPr id="3" name="Šipka: nahoru 2">
            <a:extLst>
              <a:ext uri="{FF2B5EF4-FFF2-40B4-BE49-F238E27FC236}">
                <a16:creationId xmlns:a16="http://schemas.microsoft.com/office/drawing/2014/main" id="{7B5C26FD-3DCA-620C-3891-B6D2F8455A55}"/>
              </a:ext>
            </a:extLst>
          </p:cNvPr>
          <p:cNvSpPr/>
          <p:nvPr/>
        </p:nvSpPr>
        <p:spPr>
          <a:xfrm>
            <a:off x="6888211" y="4120842"/>
            <a:ext cx="3077541" cy="232440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sz="1200" dirty="0"/>
              <a:t>Zvyšovat kvalitu klientů –komunikovat C1-C3, + </a:t>
            </a:r>
            <a:r>
              <a:rPr lang="cs-CZ" sz="1200" dirty="0" err="1"/>
              <a:t>premium</a:t>
            </a:r>
            <a:r>
              <a:rPr lang="cs-CZ" sz="1200" dirty="0"/>
              <a:t> sub-</a:t>
            </a:r>
            <a:r>
              <a:rPr lang="cs-CZ" sz="1200" dirty="0" err="1"/>
              <a:t>brand</a:t>
            </a:r>
            <a:r>
              <a:rPr lang="cs-CZ" sz="1200" dirty="0"/>
              <a:t> A,B. </a:t>
            </a:r>
          </a:p>
          <a:p>
            <a:pPr algn="ctr"/>
            <a:r>
              <a:rPr lang="cs-CZ" sz="1200" dirty="0"/>
              <a:t>Predikce skóre na 2026 = 35</a:t>
            </a:r>
          </a:p>
        </p:txBody>
      </p:sp>
    </p:spTree>
    <p:extLst>
      <p:ext uri="{BB962C8B-B14F-4D97-AF65-F5344CB8AC3E}">
        <p14:creationId xmlns:p14="http://schemas.microsoft.com/office/powerpoint/2010/main" val="35845219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37EE9-32E6-86DC-7241-6170522AA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BB0D85E-AFD0-DFB9-6852-3BAD340FAC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4.2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Doporučení komunikace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52DF894-1F2D-9783-1C4D-8A471AA11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11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582AB1B-2527-5307-D5A6-B8FFD8C70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00200"/>
            <a:ext cx="11226560" cy="4783347"/>
          </a:xfrm>
        </p:spPr>
        <p:txBody>
          <a:bodyPr>
            <a:noAutofit/>
          </a:bodyPr>
          <a:lstStyle/>
          <a:p>
            <a:r>
              <a:rPr lang="cs-CZ" sz="1200" dirty="0"/>
              <a:t>1. Klíčová sdělení:</a:t>
            </a:r>
          </a:p>
          <a:p>
            <a:r>
              <a:rPr lang="cs-CZ" sz="1200" b="0" dirty="0"/>
              <a:t>„Rychle, férově a bez starostí“ – univerzální </a:t>
            </a:r>
            <a:r>
              <a:rPr lang="cs-CZ" sz="1200" b="0" dirty="0" err="1"/>
              <a:t>claim</a:t>
            </a:r>
            <a:r>
              <a:rPr lang="cs-CZ" sz="1200" b="0" dirty="0"/>
              <a:t>.</a:t>
            </a:r>
          </a:p>
          <a:p>
            <a:r>
              <a:rPr lang="cs-CZ" sz="1200" b="0" dirty="0"/>
              <a:t>Pro </a:t>
            </a:r>
            <a:r>
              <a:rPr lang="cs-CZ" sz="1200" b="0" u="sng" dirty="0"/>
              <a:t>C3 a C2: jistota, rychlost, jednoduchost</a:t>
            </a:r>
            <a:r>
              <a:rPr lang="cs-CZ" sz="1200" b="0" dirty="0"/>
              <a:t>.</a:t>
            </a:r>
          </a:p>
          <a:p>
            <a:r>
              <a:rPr lang="cs-CZ" sz="1200" b="0" dirty="0"/>
              <a:t>Pro </a:t>
            </a:r>
            <a:r>
              <a:rPr lang="cs-CZ" sz="1200" b="0" u="sng" dirty="0"/>
              <a:t>A/B: diskrétnost, individualizace, péče</a:t>
            </a:r>
            <a:r>
              <a:rPr lang="cs-CZ" sz="1200" b="0" dirty="0"/>
              <a:t>.</a:t>
            </a:r>
          </a:p>
          <a:p>
            <a:endParaRPr lang="cs-CZ" sz="1200" b="0" dirty="0"/>
          </a:p>
          <a:p>
            <a:r>
              <a:rPr lang="cs-CZ" sz="1200" dirty="0"/>
              <a:t>2. Komunikační kanály:</a:t>
            </a:r>
          </a:p>
          <a:p>
            <a:r>
              <a:rPr lang="cs-CZ" sz="1200" b="0" dirty="0"/>
              <a:t>C3 – výkonové kampaně (Google </a:t>
            </a:r>
            <a:r>
              <a:rPr lang="cs-CZ" sz="1200" b="0" dirty="0" err="1"/>
              <a:t>Ads</a:t>
            </a:r>
            <a:r>
              <a:rPr lang="cs-CZ" sz="1200" b="0" dirty="0"/>
              <a:t>, FB </a:t>
            </a:r>
            <a:r>
              <a:rPr lang="cs-CZ" sz="1200" b="0" dirty="0" err="1"/>
              <a:t>Ads</a:t>
            </a:r>
            <a:r>
              <a:rPr lang="cs-CZ" sz="1200" b="0" dirty="0"/>
              <a:t>, </a:t>
            </a:r>
            <a:r>
              <a:rPr lang="cs-CZ" sz="1200" b="0" dirty="0" err="1"/>
              <a:t>Sklik</a:t>
            </a:r>
            <a:r>
              <a:rPr lang="cs-CZ" sz="1200" b="0" dirty="0"/>
              <a:t>).</a:t>
            </a:r>
          </a:p>
          <a:p>
            <a:r>
              <a:rPr lang="cs-CZ" sz="1200" b="0" dirty="0"/>
              <a:t>C2/C1 – kombinace </a:t>
            </a:r>
            <a:r>
              <a:rPr lang="cs-CZ" sz="1200" b="0" u="sng" dirty="0"/>
              <a:t>online kampaní, </a:t>
            </a:r>
            <a:r>
              <a:rPr lang="cs-CZ" sz="1200" b="0" u="sng" dirty="0" err="1"/>
              <a:t>retargetingu</a:t>
            </a:r>
            <a:r>
              <a:rPr lang="cs-CZ" sz="1200" b="0" u="sng" dirty="0"/>
              <a:t> a e‑mailingu (</a:t>
            </a:r>
            <a:r>
              <a:rPr lang="cs-CZ" sz="1200" b="0" u="sng" dirty="0">
                <a:solidFill>
                  <a:schemeClr val="tx1"/>
                </a:solidFill>
              </a:rPr>
              <a:t>CRM</a:t>
            </a:r>
            <a:r>
              <a:rPr lang="cs-CZ" sz="1200" b="0" u="sng" dirty="0"/>
              <a:t>)</a:t>
            </a:r>
            <a:r>
              <a:rPr lang="cs-CZ" sz="1200" b="0" dirty="0"/>
              <a:t>.</a:t>
            </a:r>
          </a:p>
          <a:p>
            <a:r>
              <a:rPr lang="cs-CZ" sz="1200" b="0" dirty="0"/>
              <a:t>A/B – LinkedIn, </a:t>
            </a:r>
            <a:r>
              <a:rPr lang="cs-CZ" sz="1200" b="0" dirty="0" err="1"/>
              <a:t>remarketing</a:t>
            </a:r>
            <a:r>
              <a:rPr lang="cs-CZ" sz="1200" b="0" dirty="0"/>
              <a:t> na prémiové publika.</a:t>
            </a:r>
          </a:p>
          <a:p>
            <a:endParaRPr lang="cs-CZ" sz="1200" dirty="0"/>
          </a:p>
          <a:p>
            <a:r>
              <a:rPr lang="cs-CZ" sz="1200" dirty="0"/>
              <a:t>3. Tonalita:</a:t>
            </a:r>
          </a:p>
          <a:p>
            <a:r>
              <a:rPr lang="cs-CZ" sz="1200" b="0" dirty="0"/>
              <a:t>C3 – přímočará, srozumitelná, jednoduchá.</a:t>
            </a:r>
          </a:p>
          <a:p>
            <a:r>
              <a:rPr lang="cs-CZ" sz="1200" b="0" dirty="0"/>
              <a:t>C2/C1 – spolehlivá, férová, profesionální.</a:t>
            </a:r>
          </a:p>
          <a:p>
            <a:r>
              <a:rPr lang="cs-CZ" sz="1200" b="0" dirty="0"/>
              <a:t>A/B – </a:t>
            </a:r>
            <a:r>
              <a:rPr lang="cs-CZ" sz="1200" b="0" u="sng" dirty="0"/>
              <a:t>prémiová, pečlivá, individualizovaná</a:t>
            </a:r>
            <a:r>
              <a:rPr lang="cs-CZ" sz="1200" b="0" dirty="0"/>
              <a:t>.</a:t>
            </a:r>
          </a:p>
          <a:p>
            <a:endParaRPr lang="cs-CZ" sz="1200" dirty="0"/>
          </a:p>
          <a:p>
            <a:r>
              <a:rPr lang="cs-CZ" sz="1200" dirty="0"/>
              <a:t>4. Obsahová doporučení:</a:t>
            </a:r>
          </a:p>
          <a:p>
            <a:r>
              <a:rPr lang="cs-CZ" sz="1200" b="0" u="sng" dirty="0"/>
              <a:t>Video reference, příběhy klientů</a:t>
            </a:r>
            <a:r>
              <a:rPr lang="cs-CZ" sz="1200" b="0" dirty="0"/>
              <a:t>, reálné případové studie.</a:t>
            </a:r>
          </a:p>
          <a:p>
            <a:r>
              <a:rPr lang="cs-CZ" sz="1200" b="0" dirty="0"/>
              <a:t>Zdůraznit </a:t>
            </a:r>
            <a:r>
              <a:rPr lang="cs-CZ" sz="1200" b="0" u="sng" dirty="0"/>
              <a:t>bezpečnost výkupu oproti prodeji v inzerci (</a:t>
            </a:r>
            <a:r>
              <a:rPr lang="cs-CZ" sz="1200" b="0" u="sng" dirty="0">
                <a:solidFill>
                  <a:schemeClr val="tx1"/>
                </a:solidFill>
              </a:rPr>
              <a:t>SEO</a:t>
            </a:r>
            <a:r>
              <a:rPr lang="cs-CZ" sz="1200" b="0" u="sng" dirty="0"/>
              <a:t>)</a:t>
            </a:r>
            <a:r>
              <a:rPr lang="cs-CZ" sz="1200" b="0" dirty="0"/>
              <a:t>.</a:t>
            </a:r>
          </a:p>
          <a:p>
            <a:r>
              <a:rPr lang="cs-CZ" sz="1200" b="0" dirty="0"/>
              <a:t>Transparentní komunikace – ukázky výpočtu ceny, postup krok za krokem.</a:t>
            </a:r>
          </a:p>
          <a:p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2FE9B1A-9A30-4A7E-C6C0-F2D16CD4B5C3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AD129E80-8295-9EC2-E3C1-F820464E7CBB}"/>
              </a:ext>
            </a:extLst>
          </p:cNvPr>
          <p:cNvSpPr/>
          <p:nvPr/>
        </p:nvSpPr>
        <p:spPr>
          <a:xfrm>
            <a:off x="7484384" y="2743200"/>
            <a:ext cx="3198386" cy="156696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cs-CZ" dirty="0"/>
              <a:t>Video recenze!</a:t>
            </a:r>
          </a:p>
          <a:p>
            <a:pPr algn="ctr"/>
            <a:r>
              <a:rPr lang="cs-CZ" dirty="0"/>
              <a:t>Tutoriály.</a:t>
            </a:r>
          </a:p>
          <a:p>
            <a:pPr algn="ctr"/>
            <a:r>
              <a:rPr lang="cs-CZ" dirty="0"/>
              <a:t>¨Příběhy klientů. </a:t>
            </a:r>
          </a:p>
        </p:txBody>
      </p:sp>
    </p:spTree>
    <p:extLst>
      <p:ext uri="{BB962C8B-B14F-4D97-AF65-F5344CB8AC3E}">
        <p14:creationId xmlns:p14="http://schemas.microsoft.com/office/powerpoint/2010/main" val="18568155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81DD-4883-1F7B-68B6-8FD4919A4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0EABC4-5ED7-13FD-8BFF-1B6C3C1B9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4.3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Návrhy </a:t>
            </a:r>
            <a:r>
              <a:rPr lang="cs-CZ" sz="2800" b="0" dirty="0" err="1"/>
              <a:t>claimů</a:t>
            </a:r>
            <a:r>
              <a:rPr lang="cs-CZ" sz="2800" b="0" dirty="0"/>
              <a:t> pro Cash4Car, doporučené </a:t>
            </a:r>
            <a:r>
              <a:rPr lang="cs-CZ" sz="2800" b="0" dirty="0" err="1"/>
              <a:t>trexty</a:t>
            </a:r>
            <a:r>
              <a:rPr lang="cs-CZ" sz="2800" b="0" dirty="0"/>
              <a:t> pro </a:t>
            </a:r>
            <a:r>
              <a:rPr lang="cs-CZ" sz="2800" b="0" dirty="0" err="1"/>
              <a:t>banery</a:t>
            </a:r>
            <a:r>
              <a:rPr lang="cs-CZ" sz="2800" b="0" dirty="0"/>
              <a:t>: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084C446B-4AA1-798B-D058-24102C87A2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12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857C8214-E332-A20A-21F2-899BC3466F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816715"/>
            <a:ext cx="11226560" cy="4309448"/>
          </a:xfrm>
        </p:spPr>
        <p:txBody>
          <a:bodyPr>
            <a:noAutofit/>
          </a:bodyPr>
          <a:lstStyle/>
          <a:p>
            <a:r>
              <a:rPr lang="cs-CZ" sz="1400" dirty="0"/>
              <a:t>„</a:t>
            </a:r>
            <a:r>
              <a:rPr lang="cs-CZ" sz="1400" u="sng" dirty="0"/>
              <a:t>Rychle, férově a bez starostí.“</a:t>
            </a:r>
          </a:p>
          <a:p>
            <a:endParaRPr lang="cs-CZ" sz="1400" dirty="0"/>
          </a:p>
          <a:p>
            <a:r>
              <a:rPr lang="cs-CZ" sz="1400" dirty="0"/>
              <a:t>„</a:t>
            </a:r>
            <a:r>
              <a:rPr lang="cs-CZ" sz="1400" u="sng" dirty="0"/>
              <a:t>Auto (</a:t>
            </a:r>
            <a:r>
              <a:rPr lang="cs-CZ" sz="1400" b="0" u="sng" dirty="0">
                <a:solidFill>
                  <a:schemeClr val="tx1"/>
                </a:solidFill>
              </a:rPr>
              <a:t>vykoupíme hned</a:t>
            </a:r>
            <a:r>
              <a:rPr lang="cs-CZ" sz="1400" u="sng" dirty="0"/>
              <a:t>) prodáte dnes, zpět ho můžete mít kdykoliv</a:t>
            </a:r>
            <a:r>
              <a:rPr lang="cs-CZ" sz="1400" dirty="0"/>
              <a:t>.“</a:t>
            </a:r>
          </a:p>
          <a:p>
            <a:endParaRPr lang="cs-CZ" sz="1400" dirty="0"/>
          </a:p>
          <a:p>
            <a:r>
              <a:rPr lang="cs-CZ" sz="1400" dirty="0"/>
              <a:t>„</a:t>
            </a:r>
            <a:r>
              <a:rPr lang="cs-CZ" sz="1400" dirty="0" err="1"/>
              <a:t>Penize</a:t>
            </a:r>
            <a:r>
              <a:rPr lang="cs-CZ" sz="1400" dirty="0"/>
              <a:t> ihned, auto bezpečně u nás.“ </a:t>
            </a:r>
            <a:r>
              <a:rPr lang="cs-CZ" sz="1400" b="0" i="1" dirty="0">
                <a:solidFill>
                  <a:schemeClr val="tx1"/>
                </a:solidFill>
              </a:rPr>
              <a:t>nesmysl</a:t>
            </a:r>
            <a:endParaRPr lang="cs-CZ" sz="1400" dirty="0"/>
          </a:p>
          <a:p>
            <a:endParaRPr lang="cs-CZ" sz="1400" dirty="0"/>
          </a:p>
          <a:p>
            <a:r>
              <a:rPr lang="cs-CZ" sz="1400" dirty="0"/>
              <a:t>„</a:t>
            </a:r>
            <a:r>
              <a:rPr lang="cs-CZ" sz="1400" u="sng" dirty="0"/>
              <a:t>Dočasný výkup auta – chytré řešení bez rizika</a:t>
            </a:r>
            <a:r>
              <a:rPr lang="cs-CZ" sz="1400" dirty="0"/>
              <a:t>.“</a:t>
            </a:r>
          </a:p>
          <a:p>
            <a:endParaRPr lang="cs-CZ" sz="1400" dirty="0"/>
          </a:p>
          <a:p>
            <a:r>
              <a:rPr lang="cs-CZ" sz="1400" dirty="0"/>
              <a:t>„</a:t>
            </a:r>
            <a:r>
              <a:rPr lang="cs-CZ" sz="1400" u="sng" dirty="0"/>
              <a:t>Jednoduše. Bezpečně. Cash4Car</a:t>
            </a:r>
            <a:r>
              <a:rPr lang="cs-CZ" sz="1400" dirty="0"/>
              <a:t>.“</a:t>
            </a:r>
          </a:p>
          <a:p>
            <a:endParaRPr lang="cs-CZ" sz="1400" dirty="0"/>
          </a:p>
          <a:p>
            <a:r>
              <a:rPr lang="cs-CZ" sz="1400" dirty="0"/>
              <a:t>„Jistota ceny. Jistota řešení.“</a:t>
            </a:r>
          </a:p>
          <a:p>
            <a:endParaRPr lang="cs-CZ" sz="1400" dirty="0"/>
          </a:p>
          <a:p>
            <a:r>
              <a:rPr lang="cs-CZ" sz="1400" dirty="0"/>
              <a:t>„</a:t>
            </a:r>
            <a:r>
              <a:rPr lang="cs-CZ" sz="1400" u="sng" dirty="0"/>
              <a:t>Když potřebujete rychlé peníze – ale nechcete přijít o auto.</a:t>
            </a:r>
            <a:r>
              <a:rPr lang="cs-CZ" sz="1400" dirty="0"/>
              <a:t>“</a:t>
            </a:r>
          </a:p>
          <a:p>
            <a:endParaRPr lang="cs-CZ" sz="1400" dirty="0"/>
          </a:p>
          <a:p>
            <a:endParaRPr lang="cs-CZ" sz="1400" dirty="0"/>
          </a:p>
          <a:p>
            <a:endParaRPr lang="cs-CZ" sz="1400" dirty="0"/>
          </a:p>
          <a:p>
            <a:endParaRPr lang="cs-CZ" sz="1400" dirty="0"/>
          </a:p>
          <a:p>
            <a:r>
              <a:rPr lang="cs-CZ" sz="1400" dirty="0"/>
              <a:t>Bannery výkonnostní (C3, C2):</a:t>
            </a:r>
          </a:p>
          <a:p>
            <a:r>
              <a:rPr lang="cs-CZ" sz="1400" b="0" dirty="0"/>
              <a:t>„Výkup auta do 5 minut.“</a:t>
            </a:r>
          </a:p>
          <a:p>
            <a:r>
              <a:rPr lang="cs-CZ" sz="1400" b="0" dirty="0"/>
              <a:t>„Rychlé peníze za vaše auto – férově.“</a:t>
            </a:r>
          </a:p>
          <a:p>
            <a:r>
              <a:rPr lang="cs-CZ" sz="1400" b="0" dirty="0"/>
              <a:t>„Bezpečný výkup </a:t>
            </a:r>
            <a:r>
              <a:rPr lang="cs-CZ" sz="1400" b="0" u="sng" dirty="0"/>
              <a:t>bez inzerce</a:t>
            </a:r>
            <a:r>
              <a:rPr lang="cs-CZ" sz="1400" b="0" dirty="0"/>
              <a:t>.“</a:t>
            </a:r>
          </a:p>
          <a:p>
            <a:endParaRPr lang="cs-CZ" sz="1400" dirty="0"/>
          </a:p>
          <a:p>
            <a:r>
              <a:rPr lang="cs-CZ" sz="1400" dirty="0"/>
              <a:t>Bannery pro střední třídu (C1, C2):</a:t>
            </a:r>
          </a:p>
          <a:p>
            <a:r>
              <a:rPr lang="cs-CZ" sz="1400" b="0" dirty="0"/>
              <a:t>„</a:t>
            </a:r>
            <a:r>
              <a:rPr lang="cs-CZ" sz="1400" b="0" u="sng" dirty="0"/>
              <a:t>Auto prodáte dnes, odkoupíte zpět kdykoliv</a:t>
            </a:r>
            <a:r>
              <a:rPr lang="cs-CZ" sz="1400" b="0" dirty="0"/>
              <a:t>.“</a:t>
            </a:r>
          </a:p>
          <a:p>
            <a:r>
              <a:rPr lang="cs-CZ" sz="1400" b="0" dirty="0"/>
              <a:t>„</a:t>
            </a:r>
            <a:r>
              <a:rPr lang="cs-CZ" sz="1400" b="0" u="sng" dirty="0"/>
              <a:t>Bez papírování – férová nabídka během chvíle</a:t>
            </a:r>
            <a:r>
              <a:rPr lang="cs-CZ" sz="1400" b="0" dirty="0"/>
              <a:t>.“</a:t>
            </a:r>
          </a:p>
          <a:p>
            <a:endParaRPr lang="cs-CZ" sz="1400" dirty="0"/>
          </a:p>
          <a:p>
            <a:r>
              <a:rPr lang="cs-CZ" sz="1400" dirty="0"/>
              <a:t>Bannery prémiové (A, B):</a:t>
            </a:r>
          </a:p>
          <a:p>
            <a:r>
              <a:rPr lang="cs-CZ" sz="1400" b="0" dirty="0"/>
              <a:t>„</a:t>
            </a:r>
            <a:r>
              <a:rPr lang="cs-CZ" sz="1400" b="0" u="sng" dirty="0"/>
              <a:t>Diskrétní dočasný výkup prémiových vozů</a:t>
            </a:r>
            <a:r>
              <a:rPr lang="cs-CZ" sz="1400" b="0" dirty="0"/>
              <a:t>.“</a:t>
            </a:r>
          </a:p>
          <a:p>
            <a:r>
              <a:rPr lang="cs-CZ" sz="1400" b="0" dirty="0"/>
              <a:t>„Bezpečné uskladnění vozů + garance ceny.“ </a:t>
            </a:r>
            <a:r>
              <a:rPr lang="cs-CZ" sz="1400" b="0" i="1" dirty="0">
                <a:solidFill>
                  <a:schemeClr val="tx1"/>
                </a:solidFill>
              </a:rPr>
              <a:t>nesmysl</a:t>
            </a:r>
            <a:endParaRPr lang="cs-CZ" sz="1400" b="0" dirty="0"/>
          </a:p>
          <a:p>
            <a:endParaRPr lang="cs-CZ" sz="1400" b="0" dirty="0"/>
          </a:p>
          <a:p>
            <a:endParaRPr sz="14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CD3105-86A8-1793-3FFD-39EED44F20C4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4813793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73D00C-6D31-9D97-1E0E-5298BC9A4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1483D09-E09F-80C3-F29F-A763C2A1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4.4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Marketingové persony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ED73F68-06D3-723E-970C-EDF9ACBD9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13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64E70A18-A9FA-858D-1D7C-165E3EE96E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940943"/>
            <a:ext cx="11226560" cy="4185220"/>
          </a:xfrm>
        </p:spPr>
        <p:txBody>
          <a:bodyPr>
            <a:noAutofit/>
          </a:bodyPr>
          <a:lstStyle/>
          <a:p>
            <a:r>
              <a:rPr lang="cs-CZ" sz="1200" dirty="0"/>
              <a:t>Persona 1 – Praktický rodinný typ (C2/C1):</a:t>
            </a:r>
          </a:p>
          <a:p>
            <a:r>
              <a:rPr lang="cs-CZ" sz="1200" b="0" dirty="0"/>
              <a:t>Potřebuje rychlé řešení, má omezený čas.</a:t>
            </a:r>
          </a:p>
          <a:p>
            <a:r>
              <a:rPr lang="cs-CZ" sz="1200" b="0" dirty="0"/>
              <a:t>Výhoda: jistota ceny, minimum starostí.</a:t>
            </a:r>
          </a:p>
          <a:p>
            <a:endParaRPr lang="cs-CZ" sz="1200" dirty="0"/>
          </a:p>
          <a:p>
            <a:r>
              <a:rPr lang="cs-CZ" sz="1200" dirty="0"/>
              <a:t>Persona 2 – Cenově orientovaný uživatel (C3):</a:t>
            </a:r>
          </a:p>
          <a:p>
            <a:r>
              <a:rPr lang="cs-CZ" sz="1200" b="0" dirty="0"/>
              <a:t>Hledá férovou cenu a rychlé peníze.</a:t>
            </a:r>
          </a:p>
          <a:p>
            <a:r>
              <a:rPr lang="cs-CZ" sz="1200" b="0" dirty="0"/>
              <a:t>Motivace: řeší akutní finanční potřebu.</a:t>
            </a:r>
          </a:p>
          <a:p>
            <a:endParaRPr lang="cs-CZ" sz="1200" dirty="0"/>
          </a:p>
          <a:p>
            <a:r>
              <a:rPr lang="cs-CZ" sz="1200" dirty="0"/>
              <a:t>Persona 3 – Prémiový klient (A/B):</a:t>
            </a:r>
          </a:p>
          <a:p>
            <a:r>
              <a:rPr lang="cs-CZ" sz="1200" b="0" dirty="0"/>
              <a:t>Hledá diskrétní, profesionální přístup.</a:t>
            </a:r>
          </a:p>
          <a:p>
            <a:r>
              <a:rPr lang="cs-CZ" sz="1200" b="0" dirty="0"/>
              <a:t>Ocení garanci a prémiové zacházení.</a:t>
            </a:r>
          </a:p>
          <a:p>
            <a:endParaRPr lang="cs-CZ" sz="1200" dirty="0"/>
          </a:p>
          <a:p>
            <a:r>
              <a:rPr lang="cs-CZ" sz="1200" dirty="0"/>
              <a:t>Persona 4 – OSVČ / podnikatel:</a:t>
            </a:r>
          </a:p>
          <a:p>
            <a:r>
              <a:rPr lang="cs-CZ" sz="1200" b="0" dirty="0"/>
              <a:t>Vysoká citlivost na cashflow.</a:t>
            </a:r>
          </a:p>
          <a:p>
            <a:r>
              <a:rPr lang="cs-CZ" sz="1200" b="0" dirty="0"/>
              <a:t>„Dočasný výkup“ je flexibilní nástroj.</a:t>
            </a:r>
          </a:p>
          <a:p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E369867-A872-861A-A0B2-5EA378636985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EE0A23B7-6BD4-C47B-DA1C-39A77817C7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96797985"/>
              </p:ext>
            </p:extLst>
          </p:nvPr>
        </p:nvGraphicFramePr>
        <p:xfrm>
          <a:off x="5331091" y="1969787"/>
          <a:ext cx="5323482" cy="33185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4199073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7E291-125F-7C12-201A-753EFEDDA7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12D3AA2-48D2-EC0D-C511-6A39A8996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4.5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Sezónní komunikační plán, Marketingový </a:t>
            </a:r>
            <a:r>
              <a:rPr lang="cs-CZ" sz="2800" b="0" dirty="0" err="1"/>
              <a:t>funnel</a:t>
            </a:r>
            <a:r>
              <a:rPr lang="cs-CZ" sz="2800" b="0" dirty="0"/>
              <a:t> (TOFU/MOFU/BOFU):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BC0A137-2BB6-95CA-73E4-D50A39822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14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BC2331A-98DB-16D4-AE13-7EF4CF23D7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026181"/>
            <a:ext cx="11226560" cy="4099982"/>
          </a:xfrm>
        </p:spPr>
        <p:txBody>
          <a:bodyPr>
            <a:noAutofit/>
          </a:bodyPr>
          <a:lstStyle/>
          <a:p>
            <a:r>
              <a:rPr lang="cs-CZ" sz="1200" dirty="0"/>
              <a:t>Jaro:</a:t>
            </a:r>
          </a:p>
          <a:p>
            <a:r>
              <a:rPr lang="cs-CZ" sz="1200" b="0" dirty="0"/>
              <a:t>Poptávka po výkupech běžných aut – ideální pro kampaně na C2 a C3.</a:t>
            </a:r>
          </a:p>
          <a:p>
            <a:r>
              <a:rPr lang="cs-CZ" sz="1200" b="0" dirty="0"/>
              <a:t>Doporučené kampaně: Google </a:t>
            </a:r>
            <a:r>
              <a:rPr lang="cs-CZ" sz="1200" b="0" dirty="0" err="1"/>
              <a:t>Ads</a:t>
            </a:r>
            <a:r>
              <a:rPr lang="cs-CZ" sz="1200" b="0" dirty="0"/>
              <a:t> + Meta.</a:t>
            </a:r>
          </a:p>
          <a:p>
            <a:endParaRPr lang="cs-CZ" sz="1200" dirty="0"/>
          </a:p>
          <a:p>
            <a:r>
              <a:rPr lang="cs-CZ" sz="1200" dirty="0"/>
              <a:t>Léto:</a:t>
            </a:r>
          </a:p>
          <a:p>
            <a:r>
              <a:rPr lang="cs-CZ" sz="1200" b="0" dirty="0"/>
              <a:t>Silné období pro prémiové klienty (dovolené).</a:t>
            </a:r>
          </a:p>
          <a:p>
            <a:r>
              <a:rPr lang="cs-CZ" sz="1200" b="0" dirty="0"/>
              <a:t>Nabídnout Cash4Car jako službu během pobytu v zahraničí.</a:t>
            </a:r>
          </a:p>
          <a:p>
            <a:endParaRPr lang="cs-CZ" sz="1200" dirty="0"/>
          </a:p>
          <a:p>
            <a:r>
              <a:rPr lang="cs-CZ" sz="1200" dirty="0"/>
              <a:t>Podzim:</a:t>
            </a:r>
          </a:p>
          <a:p>
            <a:r>
              <a:rPr lang="cs-CZ" sz="1200" b="0" dirty="0"/>
              <a:t>Zvýšená poptávka po penězích (škola, finance).</a:t>
            </a:r>
          </a:p>
          <a:p>
            <a:r>
              <a:rPr lang="cs-CZ" sz="1200" b="0" dirty="0"/>
              <a:t>Performance kampaně na C3 – výkupy starších aut.</a:t>
            </a:r>
          </a:p>
          <a:p>
            <a:endParaRPr lang="cs-CZ" sz="1200" b="0" dirty="0"/>
          </a:p>
          <a:p>
            <a:r>
              <a:rPr lang="cs-CZ" sz="1200" dirty="0"/>
              <a:t>Zima:</a:t>
            </a:r>
          </a:p>
          <a:p>
            <a:r>
              <a:rPr lang="cs-CZ" sz="1200" b="0" dirty="0"/>
              <a:t>Dobré období na kampaně na OSVČ (uzávěrky, cashflow).</a:t>
            </a:r>
          </a:p>
          <a:p>
            <a:r>
              <a:rPr lang="cs-CZ" sz="1200" b="0" dirty="0"/>
              <a:t>Nabídka výkupu firemních vozů.</a:t>
            </a:r>
          </a:p>
          <a:p>
            <a:endParaRPr lang="cs-CZ" sz="1200" dirty="0"/>
          </a:p>
          <a:p>
            <a:endParaRPr lang="cs-CZ" sz="1200" dirty="0"/>
          </a:p>
          <a:p>
            <a:r>
              <a:rPr lang="cs-CZ" sz="1200" dirty="0"/>
              <a:t>TOFU – </a:t>
            </a:r>
            <a:r>
              <a:rPr lang="cs-CZ" sz="1200" dirty="0" err="1"/>
              <a:t>Awareness</a:t>
            </a:r>
            <a:r>
              <a:rPr lang="cs-CZ" sz="1200" dirty="0"/>
              <a:t>:</a:t>
            </a:r>
          </a:p>
          <a:p>
            <a:r>
              <a:rPr lang="cs-CZ" sz="1200" b="0" dirty="0"/>
              <a:t>Bannery, sociální sítě, krátká videa, reklamy o jednoduchosti služby.</a:t>
            </a:r>
          </a:p>
          <a:p>
            <a:r>
              <a:rPr lang="cs-CZ" sz="1200" b="0" dirty="0" err="1"/>
              <a:t>Claimy</a:t>
            </a:r>
            <a:r>
              <a:rPr lang="cs-CZ" sz="1200" b="0" dirty="0"/>
              <a:t>: „Rychle, férově a bez starostí.“</a:t>
            </a:r>
          </a:p>
          <a:p>
            <a:endParaRPr lang="cs-CZ" sz="1200" dirty="0"/>
          </a:p>
          <a:p>
            <a:r>
              <a:rPr lang="cs-CZ" sz="1200" dirty="0"/>
              <a:t>MOFU – </a:t>
            </a:r>
            <a:r>
              <a:rPr lang="cs-CZ" sz="1200" dirty="0" err="1"/>
              <a:t>Consideration</a:t>
            </a:r>
            <a:r>
              <a:rPr lang="cs-CZ" sz="1200" dirty="0"/>
              <a:t>:</a:t>
            </a:r>
          </a:p>
          <a:p>
            <a:r>
              <a:rPr lang="cs-CZ" sz="1200" b="0" dirty="0" err="1"/>
              <a:t>Remarketing</a:t>
            </a:r>
            <a:r>
              <a:rPr lang="cs-CZ" sz="1200" b="0" dirty="0"/>
              <a:t>, vysvětlující videa, příběhy klientů.</a:t>
            </a:r>
          </a:p>
          <a:p>
            <a:r>
              <a:rPr lang="cs-CZ" sz="1200" b="0" dirty="0"/>
              <a:t>Obsah: ukázky skutečných výkupů, postup krok za krokem.</a:t>
            </a:r>
          </a:p>
          <a:p>
            <a:endParaRPr lang="cs-CZ" sz="1200" dirty="0"/>
          </a:p>
          <a:p>
            <a:r>
              <a:rPr lang="cs-CZ" sz="1200" dirty="0"/>
              <a:t>BOFU – </a:t>
            </a:r>
            <a:r>
              <a:rPr lang="cs-CZ" sz="1200" dirty="0" err="1"/>
              <a:t>Conversion</a:t>
            </a:r>
            <a:r>
              <a:rPr lang="cs-CZ" sz="1200" dirty="0"/>
              <a:t>:</a:t>
            </a:r>
          </a:p>
          <a:p>
            <a:r>
              <a:rPr lang="cs-CZ" sz="1200" b="0" dirty="0"/>
              <a:t>Přímé nabídky, CTA „Získat nabídku nyní“.</a:t>
            </a:r>
          </a:p>
          <a:p>
            <a:r>
              <a:rPr lang="cs-CZ" sz="1200" b="0" dirty="0" err="1"/>
              <a:t>Retargeting</a:t>
            </a:r>
            <a:r>
              <a:rPr lang="cs-CZ" sz="1200" b="0" dirty="0"/>
              <a:t> na segmenty C3 a C2 (+ e‑mailing pro C1/C2).</a:t>
            </a:r>
          </a:p>
          <a:p>
            <a:r>
              <a:rPr lang="cs-CZ" sz="1200" b="0" dirty="0"/>
              <a:t>Výhody: okamžitá platba, garance ceny, rychlé schválení.</a:t>
            </a:r>
          </a:p>
          <a:p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527508F-9652-F85F-91CE-329DA6A74C72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  <p:sp>
        <p:nvSpPr>
          <p:cNvPr id="3" name="Obdélník 2">
            <a:extLst>
              <a:ext uri="{FF2B5EF4-FFF2-40B4-BE49-F238E27FC236}">
                <a16:creationId xmlns:a16="http://schemas.microsoft.com/office/drawing/2014/main" id="{CAB0DC1A-B56B-8D67-579C-7398A05327D3}"/>
              </a:ext>
            </a:extLst>
          </p:cNvPr>
          <p:cNvSpPr/>
          <p:nvPr/>
        </p:nvSpPr>
        <p:spPr>
          <a:xfrm>
            <a:off x="6384688" y="5164144"/>
            <a:ext cx="3452162" cy="105179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cs-CZ" sz="1200" dirty="0"/>
              <a:t>Zavést nebo zdokonalit: </a:t>
            </a:r>
          </a:p>
          <a:p>
            <a:pPr marL="171450" indent="-171450">
              <a:buFontTx/>
              <a:buChar char="-"/>
            </a:pPr>
            <a:r>
              <a:rPr lang="cs-CZ" sz="1200" dirty="0"/>
              <a:t>CRM</a:t>
            </a:r>
          </a:p>
          <a:p>
            <a:pPr marL="171450" indent="-171450">
              <a:buFontTx/>
              <a:buChar char="-"/>
            </a:pPr>
            <a:r>
              <a:rPr lang="cs-CZ" sz="1200" dirty="0"/>
              <a:t>Komunikace na prémiové klienty a OSVČ</a:t>
            </a:r>
          </a:p>
          <a:p>
            <a:pPr marL="171450" indent="-171450">
              <a:buFontTx/>
              <a:buChar char="-"/>
            </a:pPr>
            <a:r>
              <a:rPr lang="cs-CZ" sz="1200" dirty="0"/>
              <a:t>Tutoriály</a:t>
            </a:r>
          </a:p>
        </p:txBody>
      </p:sp>
    </p:spTree>
    <p:extLst>
      <p:ext uri="{BB962C8B-B14F-4D97-AF65-F5344CB8AC3E}">
        <p14:creationId xmlns:p14="http://schemas.microsoft.com/office/powerpoint/2010/main" val="17489705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D941-00D6-B331-30F0-E1EAA1A6A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589E44-1EB0-5278-0075-B8342AC40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4.6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Marketingová </a:t>
            </a:r>
            <a:r>
              <a:rPr lang="cs-CZ" sz="2800" b="0" dirty="0" err="1"/>
              <a:t>roadmapa</a:t>
            </a:r>
            <a:r>
              <a:rPr lang="cs-CZ" sz="2800" b="0" dirty="0"/>
              <a:t> 2025–2026 </a:t>
            </a:r>
            <a:r>
              <a:rPr lang="cs-CZ" sz="1300" b="0" dirty="0">
                <a:solidFill>
                  <a:srgbClr val="FF0000"/>
                </a:solidFill>
              </a:rPr>
              <a:t>(potřeba analyzovat, upravit a načasovat)</a:t>
            </a: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1E08FBD-FB0F-9D6D-CC5C-839DE997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15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81685D3-BCE3-B45C-EA34-1D20C0A82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00200"/>
            <a:ext cx="11226560" cy="4525963"/>
          </a:xfrm>
        </p:spPr>
        <p:txBody>
          <a:bodyPr>
            <a:noAutofit/>
          </a:bodyPr>
          <a:lstStyle/>
          <a:p>
            <a:r>
              <a:rPr lang="cs-CZ" sz="1200" b="0" dirty="0"/>
              <a:t>Q1 2025:</a:t>
            </a:r>
          </a:p>
          <a:p>
            <a:r>
              <a:rPr lang="cs-CZ" sz="1200" b="0" dirty="0"/>
              <a:t>Analýza klientů a segmentace (C3 jako dominantní segment).</a:t>
            </a:r>
          </a:p>
          <a:p>
            <a:r>
              <a:rPr lang="cs-CZ" sz="1200" b="0" dirty="0"/>
              <a:t>Spuštění performance kampaní na C2/C3 (Google + Meta).</a:t>
            </a:r>
          </a:p>
          <a:p>
            <a:r>
              <a:rPr lang="cs-CZ" sz="1200" b="0" dirty="0"/>
              <a:t>Optimalizace </a:t>
            </a:r>
            <a:r>
              <a:rPr lang="cs-CZ" sz="1200" b="0" dirty="0" err="1"/>
              <a:t>landing</a:t>
            </a:r>
            <a:r>
              <a:rPr lang="cs-CZ" sz="1200" b="0" dirty="0"/>
              <a:t> </a:t>
            </a:r>
            <a:r>
              <a:rPr lang="cs-CZ" sz="1200" b="0" dirty="0" err="1"/>
              <a:t>page</a:t>
            </a:r>
            <a:r>
              <a:rPr lang="cs-CZ" sz="1200" b="0" dirty="0"/>
              <a:t> pro konverze.</a:t>
            </a:r>
          </a:p>
          <a:p>
            <a:endParaRPr lang="cs-CZ" sz="1200" b="0" dirty="0"/>
          </a:p>
          <a:p>
            <a:r>
              <a:rPr lang="cs-CZ" sz="1200" b="0" dirty="0"/>
              <a:t>Q2 2025:</a:t>
            </a:r>
          </a:p>
          <a:p>
            <a:r>
              <a:rPr lang="cs-CZ" sz="1200" b="0" dirty="0"/>
              <a:t>Zavedení </a:t>
            </a:r>
            <a:r>
              <a:rPr lang="cs-CZ" sz="1200" b="0" dirty="0" err="1"/>
              <a:t>remarketingových</a:t>
            </a:r>
            <a:r>
              <a:rPr lang="cs-CZ" sz="1200" b="0" dirty="0"/>
              <a:t> kampaní.</a:t>
            </a:r>
          </a:p>
          <a:p>
            <a:r>
              <a:rPr lang="cs-CZ" sz="1200" b="0" dirty="0"/>
              <a:t>A/B testování </a:t>
            </a:r>
            <a:r>
              <a:rPr lang="cs-CZ" sz="1200" b="0" dirty="0" err="1"/>
              <a:t>claimů</a:t>
            </a:r>
            <a:r>
              <a:rPr lang="cs-CZ" sz="1200" b="0" dirty="0"/>
              <a:t> a bannerů.</a:t>
            </a:r>
          </a:p>
          <a:p>
            <a:r>
              <a:rPr lang="cs-CZ" sz="1200" b="0" dirty="0"/>
              <a:t>Začátek spolupráce s autoservisy a pneuservisy.</a:t>
            </a:r>
          </a:p>
          <a:p>
            <a:endParaRPr lang="cs-CZ" sz="1200" b="0" dirty="0"/>
          </a:p>
          <a:p>
            <a:r>
              <a:rPr lang="cs-CZ" sz="1200" b="0" dirty="0"/>
              <a:t>Q3 2025:</a:t>
            </a:r>
          </a:p>
          <a:p>
            <a:r>
              <a:rPr lang="cs-CZ" sz="1200" b="0" dirty="0"/>
              <a:t>Silnější komunikace na segment C3 – „rychlé peníze“.</a:t>
            </a:r>
          </a:p>
          <a:p>
            <a:r>
              <a:rPr lang="cs-CZ" sz="1200" b="0" dirty="0"/>
              <a:t>Reaktivace OSVČ kampaní (před sezónou dovolených).</a:t>
            </a:r>
          </a:p>
          <a:p>
            <a:r>
              <a:rPr lang="cs-CZ" sz="1200" b="0" dirty="0"/>
              <a:t>Spuštění e‑mailové sekvence pro </a:t>
            </a:r>
            <a:r>
              <a:rPr lang="cs-CZ" sz="1200" b="0" dirty="0" err="1"/>
              <a:t>navratové</a:t>
            </a:r>
            <a:r>
              <a:rPr lang="cs-CZ" sz="1200" b="0" dirty="0"/>
              <a:t> klienty.</a:t>
            </a:r>
          </a:p>
          <a:p>
            <a:endParaRPr lang="cs-CZ" sz="1200" b="0" dirty="0"/>
          </a:p>
          <a:p>
            <a:r>
              <a:rPr lang="cs-CZ" sz="1200" b="0" dirty="0"/>
              <a:t>Q4 2025:</a:t>
            </a:r>
          </a:p>
          <a:p>
            <a:r>
              <a:rPr lang="cs-CZ" sz="1200" b="0" dirty="0"/>
              <a:t>Podzimní </a:t>
            </a:r>
            <a:r>
              <a:rPr lang="cs-CZ" sz="1200" b="0" dirty="0" err="1"/>
              <a:t>push</a:t>
            </a:r>
            <a:r>
              <a:rPr lang="cs-CZ" sz="1200" b="0" dirty="0"/>
              <a:t> kampaně (C2/C3).</a:t>
            </a:r>
          </a:p>
          <a:p>
            <a:r>
              <a:rPr lang="cs-CZ" sz="1200" b="0" dirty="0"/>
              <a:t>Zaměření na prémiové segmenty A/B v zimním období.</a:t>
            </a:r>
          </a:p>
          <a:p>
            <a:r>
              <a:rPr lang="cs-CZ" sz="1200" b="0" dirty="0"/>
              <a:t>Příprava kampaní pro firemní klienty (</a:t>
            </a:r>
            <a:r>
              <a:rPr lang="cs-CZ" sz="1200" b="0" dirty="0" err="1"/>
              <a:t>koncoroční</a:t>
            </a:r>
            <a:r>
              <a:rPr lang="cs-CZ" sz="1200" b="0" dirty="0"/>
              <a:t> cashflow).</a:t>
            </a:r>
          </a:p>
          <a:p>
            <a:endParaRPr lang="cs-CZ" sz="1200" b="0" dirty="0"/>
          </a:p>
          <a:p>
            <a:r>
              <a:rPr lang="cs-CZ" sz="1200" b="0" dirty="0"/>
              <a:t>Q1 2026:</a:t>
            </a:r>
          </a:p>
          <a:p>
            <a:r>
              <a:rPr lang="cs-CZ" sz="1200" b="0" dirty="0"/>
              <a:t>Spuštění </a:t>
            </a:r>
            <a:r>
              <a:rPr lang="cs-CZ" sz="1200" b="0" dirty="0" err="1"/>
              <a:t>cross-sell</a:t>
            </a:r>
            <a:r>
              <a:rPr lang="cs-CZ" sz="1200" b="0" dirty="0"/>
              <a:t> kampaní – příběhy klientů, reference.</a:t>
            </a:r>
          </a:p>
          <a:p>
            <a:r>
              <a:rPr lang="cs-CZ" sz="1200" b="0" dirty="0"/>
              <a:t>Optimalizace </a:t>
            </a:r>
            <a:r>
              <a:rPr lang="cs-CZ" sz="1200" b="0" dirty="0" err="1"/>
              <a:t>messagingu</a:t>
            </a:r>
            <a:r>
              <a:rPr lang="cs-CZ" sz="1200" b="0" dirty="0"/>
              <a:t> pro segmenty C1/C2.</a:t>
            </a:r>
          </a:p>
          <a:p>
            <a:r>
              <a:rPr lang="cs-CZ" sz="1200" b="0" dirty="0"/>
              <a:t>Zlepšení UX výkupního formuláře (rychlejší odhad).</a:t>
            </a:r>
          </a:p>
          <a:p>
            <a:endParaRPr lang="cs-CZ" sz="1200" b="0" dirty="0"/>
          </a:p>
          <a:p>
            <a:r>
              <a:rPr lang="cs-CZ" sz="1200" b="0" dirty="0"/>
              <a:t>Q2 2026:</a:t>
            </a:r>
          </a:p>
          <a:p>
            <a:r>
              <a:rPr lang="cs-CZ" sz="1200" b="0" dirty="0"/>
              <a:t>Regionální expanze dle analýzy krajů.</a:t>
            </a:r>
          </a:p>
          <a:p>
            <a:r>
              <a:rPr lang="cs-CZ" sz="1200" b="0" dirty="0"/>
              <a:t>Prémiová služba Cash4Car Plus pro segmenty A/B.</a:t>
            </a:r>
          </a:p>
          <a:p>
            <a:r>
              <a:rPr lang="cs-CZ" sz="1200" b="0" dirty="0"/>
              <a:t>Rozšíření partnerské sítě (leasingy, </a:t>
            </a:r>
            <a:r>
              <a:rPr lang="cs-CZ" sz="1200" b="0" dirty="0" err="1"/>
              <a:t>dealeri</a:t>
            </a:r>
            <a:r>
              <a:rPr lang="cs-CZ" sz="1200" b="0" dirty="0"/>
              <a:t>).</a:t>
            </a:r>
          </a:p>
          <a:p>
            <a:endParaRPr lang="cs-CZ" sz="1200" b="0" dirty="0"/>
          </a:p>
          <a:p>
            <a:r>
              <a:rPr lang="cs-CZ" sz="1200" b="0" dirty="0"/>
              <a:t>Q3 2026:</a:t>
            </a:r>
          </a:p>
          <a:p>
            <a:r>
              <a:rPr lang="cs-CZ" sz="1200" b="0" dirty="0"/>
              <a:t>Silné kampaně na C3 (výkupy starších vozů).</a:t>
            </a:r>
          </a:p>
          <a:p>
            <a:r>
              <a:rPr lang="cs-CZ" sz="1200" b="0" dirty="0"/>
              <a:t>Podpora </a:t>
            </a:r>
            <a:r>
              <a:rPr lang="cs-CZ" sz="1200" b="0" dirty="0" err="1"/>
              <a:t>retention</a:t>
            </a:r>
            <a:r>
              <a:rPr lang="cs-CZ" sz="1200" b="0" dirty="0"/>
              <a:t> kampaní – slevy na zpětný odkup.</a:t>
            </a:r>
          </a:p>
          <a:p>
            <a:r>
              <a:rPr lang="cs-CZ" sz="1200" b="0" dirty="0"/>
              <a:t>Brand-</a:t>
            </a:r>
            <a:r>
              <a:rPr lang="cs-CZ" sz="1200" b="0" dirty="0" err="1"/>
              <a:t>building</a:t>
            </a:r>
            <a:r>
              <a:rPr lang="cs-CZ" sz="1200" b="0" dirty="0"/>
              <a:t> videa zaměřená na jistotu a férovost.</a:t>
            </a:r>
          </a:p>
          <a:p>
            <a:endParaRPr lang="cs-CZ" sz="1200" b="0" dirty="0"/>
          </a:p>
          <a:p>
            <a:r>
              <a:rPr lang="cs-CZ" sz="1200" b="0" dirty="0"/>
              <a:t>Q4 2026:</a:t>
            </a:r>
          </a:p>
          <a:p>
            <a:r>
              <a:rPr lang="cs-CZ" sz="1200" b="0" dirty="0"/>
              <a:t>Komunikační souhrn roku – nejúspěšnější příběhy klientů.</a:t>
            </a:r>
          </a:p>
          <a:p>
            <a:r>
              <a:rPr lang="cs-CZ" sz="1200" b="0" dirty="0"/>
              <a:t>Silné kampaně pro OSVČ a firemní segmenty.</a:t>
            </a:r>
          </a:p>
          <a:p>
            <a:r>
              <a:rPr lang="cs-CZ" sz="1200" b="0" dirty="0"/>
              <a:t>Kompletní revize strategie před rokem 2026.</a:t>
            </a:r>
          </a:p>
          <a:p>
            <a:endParaRPr sz="1200" b="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499245A-6EF3-C107-7480-C90019D2C38B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403916493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FC682-EBC1-B5CA-165D-366E36E35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399A28-49DE-185C-7147-3E3535C3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4.7 </a:t>
            </a:r>
            <a:r>
              <a:rPr lang="cs-CZ" dirty="0"/>
              <a:t>Marketingová strategie podle segmentů</a:t>
            </a:r>
            <a:br>
              <a:rPr lang="cs-CZ" dirty="0"/>
            </a:br>
            <a:r>
              <a:rPr lang="cs-CZ" sz="2800" b="0" dirty="0"/>
              <a:t>TOP 10 </a:t>
            </a:r>
            <a:r>
              <a:rPr lang="cs-CZ" sz="2800" b="0" dirty="0" err="1"/>
              <a:t>brandových</a:t>
            </a:r>
            <a:r>
              <a:rPr lang="cs-CZ" sz="2800" b="0" dirty="0"/>
              <a:t> </a:t>
            </a:r>
            <a:r>
              <a:rPr lang="cs-CZ" sz="2800" b="0" dirty="0" err="1"/>
              <a:t>claimů</a:t>
            </a:r>
            <a:r>
              <a:rPr lang="cs-CZ" sz="2800" b="0" dirty="0"/>
              <a:t> Cash4Car dle AI</a:t>
            </a:r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E596666-47DA-5C01-B7DD-F1BAD75A7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16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59788EF-40E3-3796-1D54-E6F1E4E65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720" y="1887688"/>
            <a:ext cx="11226560" cy="4041475"/>
          </a:xfrm>
        </p:spPr>
        <p:txBody>
          <a:bodyPr>
            <a:noAutofit/>
          </a:bodyPr>
          <a:lstStyle/>
          <a:p>
            <a:r>
              <a:rPr lang="cs-CZ" sz="1200" dirty="0"/>
              <a:t>1) „Rychle. Férově. Bez starostí.“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univerzální, čistý, snadno zapamatovatelný</a:t>
            </a:r>
          </a:p>
          <a:p>
            <a:endParaRPr lang="cs-CZ" sz="1200" dirty="0"/>
          </a:p>
          <a:p>
            <a:r>
              <a:rPr lang="cs-CZ" sz="1200" dirty="0"/>
              <a:t>2) „Auto na čas? Peníze ihned.“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výstižně popisuje unikátní dočasný výkup</a:t>
            </a:r>
          </a:p>
          <a:p>
            <a:endParaRPr lang="cs-CZ" sz="1200" dirty="0"/>
          </a:p>
          <a:p>
            <a:r>
              <a:rPr lang="cs-CZ" sz="1200" dirty="0"/>
              <a:t>3) „Peníze teď, auto zpět kdykoliv.“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skvělé pro odlišení od klasického výkupu</a:t>
            </a:r>
          </a:p>
          <a:p>
            <a:endParaRPr lang="cs-CZ" sz="1200" dirty="0"/>
          </a:p>
          <a:p>
            <a:r>
              <a:rPr lang="cs-CZ" sz="1200" dirty="0"/>
              <a:t>4) „Bezpečná cesta k rychlým penězům.“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důraz na jistotu a bezpečnost</a:t>
            </a:r>
          </a:p>
          <a:p>
            <a:endParaRPr lang="cs-CZ" sz="1200" dirty="0"/>
          </a:p>
          <a:p>
            <a:r>
              <a:rPr lang="cs-CZ" sz="1200" dirty="0"/>
              <a:t>5) „Férové řešení, když potřebujete prostor.“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zaměřeno na životní situace (stěhování, finance…)</a:t>
            </a:r>
          </a:p>
          <a:p>
            <a:pPr marL="0" indent="0">
              <a:buNone/>
            </a:pPr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r>
              <a:rPr lang="cs-CZ" sz="1200" dirty="0"/>
              <a:t>6) „Uvolněte si ruce. My se postaráme.“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emoční, profesionální, lidský</a:t>
            </a:r>
            <a:endParaRPr lang="cs-CZ" sz="1200" dirty="0"/>
          </a:p>
          <a:p>
            <a:endParaRPr lang="cs-CZ" sz="1200" dirty="0"/>
          </a:p>
          <a:p>
            <a:r>
              <a:rPr lang="cs-CZ" sz="1200" dirty="0"/>
              <a:t>7) „Chytrá alternativa k prodeji auta.“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ideální pro výkonové kampaně, jasné positioning</a:t>
            </a:r>
          </a:p>
          <a:p>
            <a:endParaRPr lang="cs-CZ" sz="1200" dirty="0"/>
          </a:p>
          <a:p>
            <a:r>
              <a:rPr lang="cs-CZ" sz="1200" dirty="0"/>
              <a:t>8) „Když potřebujete peníze rychle – ale auto ještě ne.“</a:t>
            </a:r>
          </a:p>
          <a:p>
            <a:r>
              <a:rPr lang="cs-CZ" sz="1200" dirty="0"/>
              <a:t>→</a:t>
            </a:r>
            <a:r>
              <a:rPr lang="cs-CZ" sz="1200" b="0" dirty="0"/>
              <a:t> velmi popisné a </a:t>
            </a:r>
            <a:r>
              <a:rPr lang="cs-CZ" sz="1200" b="0" dirty="0" err="1"/>
              <a:t>diferenciující</a:t>
            </a:r>
            <a:endParaRPr lang="cs-CZ" sz="1200" b="0" dirty="0"/>
          </a:p>
          <a:p>
            <a:endParaRPr lang="cs-CZ" sz="1200" dirty="0"/>
          </a:p>
          <a:p>
            <a:r>
              <a:rPr lang="cs-CZ" sz="1200" dirty="0"/>
              <a:t>9) „Na čas bez auta?. Na jistotu s Cash4Car.“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zapamatovatelné, rytmické</a:t>
            </a:r>
          </a:p>
          <a:p>
            <a:endParaRPr lang="cs-CZ" sz="1200" dirty="0"/>
          </a:p>
          <a:p>
            <a:r>
              <a:rPr lang="cs-CZ" sz="1200" dirty="0"/>
              <a:t>10) „Rychlé peníze. Žádné starosti.“</a:t>
            </a:r>
          </a:p>
          <a:p>
            <a:r>
              <a:rPr lang="cs-CZ" sz="1200" dirty="0"/>
              <a:t>→ </a:t>
            </a:r>
            <a:r>
              <a:rPr lang="cs-CZ" sz="1200" b="0" dirty="0"/>
              <a:t>ideální pro masový segment C3</a:t>
            </a:r>
          </a:p>
          <a:p>
            <a:pPr marL="0" indent="0">
              <a:buNone/>
            </a:pPr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4D66F73-C794-7D7D-DA6F-984D40206F77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2276244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209877-8BE8-FF2D-5F3C-323795EC41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456" y="2273301"/>
            <a:ext cx="6405794" cy="2311400"/>
          </a:xfrm>
        </p:spPr>
        <p:txBody>
          <a:bodyPr anchor="ctr"/>
          <a:lstStyle/>
          <a:p>
            <a:r>
              <a:rPr lang="cs-CZ" dirty="0"/>
              <a:t>Cenová elasticita</a:t>
            </a:r>
          </a:p>
        </p:txBody>
      </p:sp>
    </p:spTree>
    <p:extLst>
      <p:ext uri="{BB962C8B-B14F-4D97-AF65-F5344CB8AC3E}">
        <p14:creationId xmlns:p14="http://schemas.microsoft.com/office/powerpoint/2010/main" val="1009968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98D7B3-5A4A-82BC-C856-FB3FEE73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F3C90AF-4365-5E4C-F2EE-BB3848CD2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/>
          </a:bodyPr>
          <a:lstStyle/>
          <a:p>
            <a:r>
              <a:rPr lang="cs-CZ" dirty="0">
                <a:solidFill>
                  <a:schemeClr val="accent2"/>
                </a:solidFill>
              </a:rPr>
              <a:t>5.1 </a:t>
            </a:r>
            <a:r>
              <a:rPr lang="cs-CZ" dirty="0"/>
              <a:t>Cenová elasticita nabídky</a:t>
            </a:r>
            <a:br>
              <a:rPr lang="cs-CZ" dirty="0"/>
            </a:br>
            <a:r>
              <a:rPr lang="cs-CZ" sz="2800" b="0" dirty="0"/>
              <a:t>Mini případová AI studie </a:t>
            </a:r>
            <a:r>
              <a:rPr lang="cs-CZ" sz="2800" b="0" dirty="0">
                <a:sym typeface="Wingdings" panose="05000000000000000000" pitchFamily="2" charset="2"/>
              </a:rPr>
              <a:t></a:t>
            </a: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4240321F-E8AE-661D-D923-0E966C514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18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1F3F5F0-EB40-2220-EB94-72FEF54568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771890"/>
            <a:ext cx="1122656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200" b="0" dirty="0"/>
              <a:t>Níže je velmi praktický, datově podložený návrh diferenciace rezervačního poplatku podle segmentů (A–E).Návrh je postavený na: rozdílech v hodnotě vozidel, rizikovosti segmentů, platební ochotě jednotlivých skupin, elasticitě cenové citlivosti (C3 ≫ C2/C1 ≫ B/A). Je to návrh, který se běžně používá u služeb s dočasným uložením aktiva, podobných službě Cash4Car.</a:t>
            </a:r>
          </a:p>
          <a:p>
            <a:pPr marL="0" indent="0">
              <a:buNone/>
            </a:pPr>
            <a:endParaRPr lang="cs-CZ" sz="1200" dirty="0"/>
          </a:p>
          <a:p>
            <a:r>
              <a:rPr lang="cs-CZ" sz="1200" dirty="0"/>
              <a:t>Východiska</a:t>
            </a:r>
          </a:p>
          <a:p>
            <a:r>
              <a:rPr lang="cs-CZ" sz="1200" dirty="0"/>
              <a:t>✔️ C3 a D1 přijímají 6,5 % bez problému</a:t>
            </a:r>
          </a:p>
          <a:p>
            <a:r>
              <a:rPr lang="cs-CZ" sz="1200" dirty="0"/>
              <a:t>→ je to segment s vysokou cenovou citlivostí, ale zároveň největší objem klientů → rezervační poplatek má motivační i rizikové krytí</a:t>
            </a:r>
          </a:p>
          <a:p>
            <a:endParaRPr lang="cs-CZ" sz="1200" dirty="0"/>
          </a:p>
          <a:p>
            <a:r>
              <a:rPr lang="cs-CZ" sz="1200" dirty="0"/>
              <a:t>✔️ C2 a C1 jsou méně rizikové</a:t>
            </a:r>
          </a:p>
          <a:p>
            <a:r>
              <a:rPr lang="cs-CZ" sz="1200" dirty="0"/>
              <a:t>→ vyšší příjem, lepší platební morálka, vyšší hodnota vozidla, nižší operativní rizika</a:t>
            </a:r>
            <a:br>
              <a:rPr lang="cs-CZ" sz="1200" dirty="0"/>
            </a:br>
            <a:r>
              <a:rPr lang="cs-CZ" sz="1200" dirty="0"/>
              <a:t>→ zde lze poplatek snížit, aby zvýšil konverzi</a:t>
            </a:r>
          </a:p>
          <a:p>
            <a:endParaRPr lang="cs-CZ" sz="1200" dirty="0"/>
          </a:p>
          <a:p>
            <a:r>
              <a:rPr lang="cs-CZ" sz="1200" dirty="0"/>
              <a:t>✔️ B a </a:t>
            </a:r>
            <a:r>
              <a:rPr lang="cs-CZ" sz="1200" dirty="0" err="1"/>
              <a:t>A</a:t>
            </a:r>
            <a:r>
              <a:rPr lang="cs-CZ" sz="1200" dirty="0"/>
              <a:t> segment mají nejdražší auta</a:t>
            </a:r>
          </a:p>
          <a:p>
            <a:r>
              <a:rPr lang="cs-CZ" sz="1200" dirty="0"/>
              <a:t>→ riziko platební morálky je nízké, ale absolutní výše poplatku roste rychle</a:t>
            </a:r>
            <a:br>
              <a:rPr lang="cs-CZ" sz="1200" dirty="0"/>
            </a:br>
            <a:r>
              <a:rPr lang="cs-CZ" sz="1200" dirty="0"/>
              <a:t>→ zde procentní poplatek může dávat horší psychologický pocit (10 000–20 000 Kč+), zatímco fixní nebo stropovaný poplatek je lepší</a:t>
            </a:r>
          </a:p>
          <a:p>
            <a:pPr marL="0" indent="0">
              <a:buNone/>
            </a:pPr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5CD237F-8C02-A7B7-4453-022D22B7058C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30759683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93EC0-A99A-2FFC-78B5-0D82C4137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EB1C70-217A-10EC-1CAD-4B87AB30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5.2 </a:t>
            </a:r>
            <a:r>
              <a:rPr lang="cs-CZ" dirty="0"/>
              <a:t>Cenová elasticita nabídky</a:t>
            </a:r>
            <a:br>
              <a:rPr lang="cs-CZ" dirty="0"/>
            </a:br>
            <a:r>
              <a:rPr lang="cs-CZ" sz="2800" b="0" dirty="0"/>
              <a:t>Doporučení: diferencovaný rezervační poplatek podle segmentu</a:t>
            </a:r>
            <a:br>
              <a:rPr lang="cs-CZ" sz="2800" dirty="0"/>
            </a:b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B8897EF-9263-1A42-A5DB-6E9B248CE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19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97707A5-70FB-5FEC-ADAB-0C82FD0845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00200"/>
            <a:ext cx="11226560" cy="46976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cs-CZ" sz="1200" dirty="0"/>
              <a:t>Segment A – Elita</a:t>
            </a:r>
          </a:p>
          <a:p>
            <a:r>
              <a:rPr lang="cs-CZ" sz="1200" b="0" dirty="0"/>
              <a:t>Doporučený poplatek: 3,5–4,5 %</a:t>
            </a:r>
            <a:br>
              <a:rPr lang="cs-CZ" sz="1200" b="0" dirty="0"/>
            </a:br>
            <a:r>
              <a:rPr lang="cs-CZ" sz="1200" b="0" dirty="0"/>
              <a:t>ALTERNATIVA: strop max. 10 000–12 000 Kč</a:t>
            </a:r>
          </a:p>
          <a:p>
            <a:r>
              <a:rPr lang="cs-CZ" sz="1200" b="0" dirty="0"/>
              <a:t>Proč?</a:t>
            </a:r>
          </a:p>
          <a:p>
            <a:r>
              <a:rPr lang="cs-CZ" sz="1200" b="0" dirty="0"/>
              <a:t>vysoká hodnota vozu → absolutní číslo roste dramaticky</a:t>
            </a:r>
          </a:p>
          <a:p>
            <a:r>
              <a:rPr lang="cs-CZ" sz="1200" b="0" dirty="0"/>
              <a:t>prémioví klienti mají vysoká očekávání → citlivost na </a:t>
            </a:r>
            <a:r>
              <a:rPr lang="cs-CZ" sz="1200" b="0" i="1" dirty="0"/>
              <a:t>psychologický efekt velké částky</a:t>
            </a:r>
            <a:endParaRPr lang="cs-CZ" sz="1200" b="0" dirty="0"/>
          </a:p>
          <a:p>
            <a:r>
              <a:rPr lang="cs-CZ" sz="1200" b="0" dirty="0"/>
              <a:t>příliš vysoký poplatek může působit neadekvátně k prémiové zkušenosti</a:t>
            </a:r>
          </a:p>
          <a:p>
            <a:r>
              <a:rPr lang="cs-CZ" sz="1200" b="0" dirty="0"/>
              <a:t>📌 Nejlepší varianta:</a:t>
            </a:r>
          </a:p>
          <a:p>
            <a:r>
              <a:rPr lang="cs-CZ" sz="1200" b="0" i="1" dirty="0"/>
              <a:t>4 % nebo 3 % + strop 12 000 Kč</a:t>
            </a:r>
            <a:br>
              <a:rPr lang="cs-CZ" sz="1200" b="0" dirty="0"/>
            </a:br>
            <a:r>
              <a:rPr lang="cs-CZ" sz="1200" b="0" dirty="0"/>
              <a:t>(působí férově a prémiově)</a:t>
            </a:r>
          </a:p>
          <a:p>
            <a:endParaRPr lang="cs-CZ" sz="1200" b="0" dirty="0"/>
          </a:p>
          <a:p>
            <a:pPr marL="0" indent="0">
              <a:buNone/>
            </a:pPr>
            <a:r>
              <a:rPr lang="cs-CZ" sz="1200" dirty="0"/>
              <a:t>Segment B – Vysoce bonitní</a:t>
            </a:r>
          </a:p>
          <a:p>
            <a:r>
              <a:rPr lang="cs-CZ" sz="1200" b="0" dirty="0"/>
              <a:t>Doporučený poplatek: 4,5–5,5 %</a:t>
            </a:r>
            <a:br>
              <a:rPr lang="cs-CZ" sz="1200" b="0" dirty="0"/>
            </a:br>
            <a:r>
              <a:rPr lang="cs-CZ" sz="1200" b="0" dirty="0"/>
              <a:t>ALTERNATIVA: strop 10 000–15 000 Kč</a:t>
            </a:r>
          </a:p>
          <a:p>
            <a:r>
              <a:rPr lang="cs-CZ" sz="1200" b="0" dirty="0"/>
              <a:t>Proč?</a:t>
            </a:r>
          </a:p>
          <a:p>
            <a:r>
              <a:rPr lang="cs-CZ" sz="1200" b="0" dirty="0"/>
              <a:t>vysoká platební morálka</a:t>
            </a:r>
          </a:p>
          <a:p>
            <a:r>
              <a:rPr lang="cs-CZ" sz="1200" b="0" dirty="0"/>
              <a:t>nízké riziko „blokace“ vozu</a:t>
            </a:r>
          </a:p>
          <a:p>
            <a:r>
              <a:rPr lang="cs-CZ" sz="1200" b="0" dirty="0"/>
              <a:t>vyšší ochota platit za pohodlí a rychlost</a:t>
            </a:r>
          </a:p>
          <a:p>
            <a:r>
              <a:rPr lang="cs-CZ" sz="1200" b="0" dirty="0"/>
              <a:t>📌 Optimální kompromis:</a:t>
            </a:r>
          </a:p>
          <a:p>
            <a:r>
              <a:rPr lang="cs-CZ" sz="1200" b="0" i="1" dirty="0"/>
              <a:t>5 % nebo 5 % se stropem 15 000 Kč</a:t>
            </a:r>
            <a:endParaRPr lang="cs-CZ" sz="1200" b="0" dirty="0"/>
          </a:p>
          <a:p>
            <a:pPr marL="0" indent="0">
              <a:buNone/>
            </a:pPr>
            <a:r>
              <a:rPr lang="cs-CZ" sz="1200" dirty="0"/>
              <a:t>Segment C1 – Horní střední třída</a:t>
            </a:r>
          </a:p>
          <a:p>
            <a:r>
              <a:rPr lang="cs-CZ" sz="1200" b="0" dirty="0"/>
              <a:t>Doporučený poplatek: 5,5–6,0 %</a:t>
            </a:r>
          </a:p>
          <a:p>
            <a:r>
              <a:rPr lang="cs-CZ" sz="1200" b="0" dirty="0"/>
              <a:t>Proč?</a:t>
            </a:r>
          </a:p>
          <a:p>
            <a:r>
              <a:rPr lang="cs-CZ" sz="1200" b="0" dirty="0"/>
              <a:t>méně cenově senzitivní než C3, ale přesto se drží při zemi</a:t>
            </a:r>
          </a:p>
          <a:p>
            <a:r>
              <a:rPr lang="cs-CZ" sz="1200" b="0" dirty="0"/>
              <a:t>segment je stabilní a má lepší platební morálku než C2/C3</a:t>
            </a:r>
          </a:p>
          <a:p>
            <a:r>
              <a:rPr lang="cs-CZ" sz="1200" b="0" dirty="0"/>
              <a:t>je to segment, kde může příliš vysoký poplatek snížit konverzi</a:t>
            </a:r>
          </a:p>
          <a:p>
            <a:r>
              <a:rPr lang="cs-CZ" sz="1200" b="0" dirty="0"/>
              <a:t>📌 Bezpečná varianta:</a:t>
            </a:r>
          </a:p>
          <a:p>
            <a:r>
              <a:rPr lang="cs-CZ" sz="1200" b="0" i="1" dirty="0"/>
              <a:t>5,5 %</a:t>
            </a:r>
            <a:endParaRPr lang="cs-CZ" sz="1200" b="0" dirty="0"/>
          </a:p>
          <a:p>
            <a:r>
              <a:rPr lang="cs-CZ" sz="1200" b="0" dirty="0"/>
              <a:t>📌 Agresivnější varianta pro růst:</a:t>
            </a:r>
          </a:p>
          <a:p>
            <a:r>
              <a:rPr lang="cs-CZ" sz="1200" b="0" i="1" dirty="0"/>
              <a:t>5,0 % pro zvýšení konverze u střední třídy</a:t>
            </a:r>
            <a:endParaRPr lang="cs-CZ" sz="1200" b="0" dirty="0"/>
          </a:p>
          <a:p>
            <a:endParaRPr lang="cs-CZ" sz="1200" b="0" dirty="0"/>
          </a:p>
          <a:p>
            <a:pPr marL="0" indent="0">
              <a:buNone/>
            </a:pPr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B64EBE59-1D7A-4F41-4320-ECEB41450269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23739488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C6332-3DA6-E921-15AD-2078795FB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5E74DFC-5D4E-AEA0-80EC-A4C57B532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5.3 </a:t>
            </a:r>
            <a:r>
              <a:rPr lang="cs-CZ" dirty="0"/>
              <a:t>Cenová elasticita nabídky</a:t>
            </a:r>
            <a:br>
              <a:rPr lang="cs-CZ" dirty="0"/>
            </a:br>
            <a:r>
              <a:rPr lang="cs-CZ" altLang="cs-CZ" sz="2800" b="0" dirty="0">
                <a:latin typeface="Arial" panose="020B0604020202020204" pitchFamily="34" charset="0"/>
              </a:rPr>
              <a:t>Shrnutí doporučených poplatků</a:t>
            </a:r>
            <a:br>
              <a:rPr lang="cs-CZ" sz="2800" dirty="0"/>
            </a:b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CAC31F69-04B1-93B4-A968-417852183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20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E61F19A-AB0E-4441-1CE5-80B635DDB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00200"/>
            <a:ext cx="11226560" cy="4697653"/>
          </a:xfrm>
        </p:spPr>
        <p:txBody>
          <a:bodyPr>
            <a:noAutofit/>
          </a:bodyPr>
          <a:lstStyle/>
          <a:p>
            <a:endParaRPr lang="cs-CZ" sz="1200" b="0" dirty="0"/>
          </a:p>
          <a:p>
            <a:pPr marL="0" indent="0">
              <a:buNone/>
            </a:pPr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6AECBD6-1AD5-7C6E-9E0D-6E76D2509B34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  <p:graphicFrame>
        <p:nvGraphicFramePr>
          <p:cNvPr id="3" name="Zástupný obsah 3">
            <a:extLst>
              <a:ext uri="{FF2B5EF4-FFF2-40B4-BE49-F238E27FC236}">
                <a16:creationId xmlns:a16="http://schemas.microsoft.com/office/drawing/2014/main" id="{A05BDD26-81DD-2142-4B72-ACB4FB80E84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1498075"/>
              </p:ext>
            </p:extLst>
          </p:nvPr>
        </p:nvGraphicFramePr>
        <p:xfrm>
          <a:off x="2218426" y="1613139"/>
          <a:ext cx="7755148" cy="4525964"/>
        </p:xfrm>
        <a:graphic>
          <a:graphicData uri="http://schemas.openxmlformats.org/drawingml/2006/table">
            <a:tbl>
              <a:tblPr/>
              <a:tblGrid>
                <a:gridCol w="1938787">
                  <a:extLst>
                    <a:ext uri="{9D8B030D-6E8A-4147-A177-3AD203B41FA5}">
                      <a16:colId xmlns:a16="http://schemas.microsoft.com/office/drawing/2014/main" val="551920341"/>
                    </a:ext>
                  </a:extLst>
                </a:gridCol>
                <a:gridCol w="1938787">
                  <a:extLst>
                    <a:ext uri="{9D8B030D-6E8A-4147-A177-3AD203B41FA5}">
                      <a16:colId xmlns:a16="http://schemas.microsoft.com/office/drawing/2014/main" val="817126267"/>
                    </a:ext>
                  </a:extLst>
                </a:gridCol>
                <a:gridCol w="1938787">
                  <a:extLst>
                    <a:ext uri="{9D8B030D-6E8A-4147-A177-3AD203B41FA5}">
                      <a16:colId xmlns:a16="http://schemas.microsoft.com/office/drawing/2014/main" val="2297768759"/>
                    </a:ext>
                  </a:extLst>
                </a:gridCol>
                <a:gridCol w="1938787">
                  <a:extLst>
                    <a:ext uri="{9D8B030D-6E8A-4147-A177-3AD203B41FA5}">
                      <a16:colId xmlns:a16="http://schemas.microsoft.com/office/drawing/2014/main" val="1437565520"/>
                    </a:ext>
                  </a:extLst>
                </a:gridCol>
              </a:tblGrid>
              <a:tr h="465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Segment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Doporučený poplatek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Alternativa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Důvod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1856324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A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 dirty="0"/>
                        <a:t>3,5–4,5 %</a:t>
                      </a:r>
                      <a:endParaRPr lang="cs-CZ" sz="1300" dirty="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nl-NL" sz="1300"/>
                        <a:t>3–4 % + </a:t>
                      </a:r>
                      <a:r>
                        <a:rPr lang="nl-NL" sz="1300" b="1"/>
                        <a:t>strop 12 000 Kč</a:t>
                      </a:r>
                      <a:endParaRPr lang="nl-NL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prémiový segment, nízké riziko, vysoká absolutní cena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0987230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B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4,5–5,5 %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strop 10–15 000 Kč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vysoká platební morálka, komfortní klientela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0908545"/>
                  </a:ext>
                </a:extLst>
              </a:tr>
              <a:tr h="465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C1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5,5–6,0 %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5 % pro růst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horní střední třída, nižší riziko než C3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4925726"/>
                  </a:ext>
                </a:extLst>
              </a:tr>
              <a:tr h="465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C2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6,0–6,5 %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—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mírně rizikovější a citlivější segment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8723309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C3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6,5 %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—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masový segment, citlivý, ale zvyklý na tuto výši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6282562"/>
                  </a:ext>
                </a:extLst>
              </a:tr>
              <a:tr h="6655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D1/D2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6,5–7,5 %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—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horší platební morálka / vyšší riziko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0376372"/>
                  </a:ext>
                </a:extLst>
              </a:tr>
              <a:tr h="4659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b="1"/>
                        <a:t>E</a:t>
                      </a:r>
                      <a:endParaRPr lang="cs-CZ" sz="1300"/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individuálně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/>
                        <a:t>—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cs-CZ" sz="1300" dirty="0"/>
                        <a:t>extrémní případy / nejasná data</a:t>
                      </a:r>
                    </a:p>
                  </a:txBody>
                  <a:tcPr marL="66558" marR="66558" marT="33279" marB="3327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8061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324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38566E-6541-3DC5-6FCA-8690C1FD5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225C970-6BDA-AE71-E1C6-84CA3127C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365125"/>
            <a:ext cx="10387431" cy="1325563"/>
          </a:xfrm>
        </p:spPr>
        <p:txBody>
          <a:bodyPr>
            <a:normAutofit fontScale="90000"/>
          </a:bodyPr>
          <a:lstStyle/>
          <a:p>
            <a:r>
              <a:rPr lang="cs-CZ" dirty="0">
                <a:solidFill>
                  <a:schemeClr val="accent2"/>
                </a:solidFill>
              </a:rPr>
              <a:t>5.4 </a:t>
            </a:r>
            <a:r>
              <a:rPr lang="cs-CZ" dirty="0"/>
              <a:t>Cenová elasticita nabídky</a:t>
            </a:r>
            <a:br>
              <a:rPr lang="cs-CZ" dirty="0"/>
            </a:br>
            <a:r>
              <a:rPr lang="pl-PL" sz="2800" b="0" dirty="0"/>
              <a:t>Co je za </a:t>
            </a:r>
            <a:r>
              <a:rPr lang="pl-PL" sz="2800" b="0" dirty="0" err="1"/>
              <a:t>tím</a:t>
            </a:r>
            <a:r>
              <a:rPr lang="pl-PL" sz="2800" b="0" dirty="0"/>
              <a:t> z </a:t>
            </a:r>
            <a:r>
              <a:rPr lang="pl-PL" sz="2800" b="0" dirty="0" err="1"/>
              <a:t>pohledu</a:t>
            </a:r>
            <a:r>
              <a:rPr lang="pl-PL" sz="2800" b="0" dirty="0"/>
              <a:t> </a:t>
            </a:r>
            <a:r>
              <a:rPr lang="pl-PL" sz="2800" b="0" dirty="0" err="1"/>
              <a:t>elasticity</a:t>
            </a:r>
            <a:r>
              <a:rPr lang="pl-PL" sz="2800" b="0" dirty="0"/>
              <a:t>? Model:</a:t>
            </a:r>
            <a:br>
              <a:rPr lang="cs-CZ" sz="2800" dirty="0"/>
            </a:br>
            <a:endParaRPr lang="cs-CZ" sz="2800" b="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A2EFF6DE-3A38-8707-310A-4A94FADD3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2100" y="6445249"/>
            <a:ext cx="2743200" cy="365125"/>
          </a:xfrm>
        </p:spPr>
        <p:txBody>
          <a:bodyPr/>
          <a:lstStyle/>
          <a:p>
            <a:fld id="{15D8F433-642A-41AC-BC12-CE412EF5A94A}" type="slidenum">
              <a:rPr lang="cs-CZ" smtClean="0"/>
              <a:pPr/>
              <a:t>21</a:t>
            </a:fld>
            <a:endParaRPr lang="cs-CZ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931DB9D6-70EB-4C79-0632-04CC215482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1600200"/>
            <a:ext cx="11226560" cy="4697653"/>
          </a:xfrm>
        </p:spPr>
        <p:txBody>
          <a:bodyPr>
            <a:noAutofit/>
          </a:bodyPr>
          <a:lstStyle/>
          <a:p>
            <a:r>
              <a:rPr lang="cs-CZ" sz="1200" dirty="0"/>
              <a:t>Segmenty A/B</a:t>
            </a:r>
          </a:p>
          <a:p>
            <a:r>
              <a:rPr lang="cs-CZ" sz="1200" b="0" dirty="0"/>
              <a:t>nízká cenová elasticita</a:t>
            </a:r>
          </a:p>
          <a:p>
            <a:r>
              <a:rPr lang="cs-CZ" sz="1200" b="0" dirty="0"/>
              <a:t>ale vysoký psychologický odpor k extrémně vysoké částce</a:t>
            </a:r>
            <a:br>
              <a:rPr lang="cs-CZ" sz="1200" b="0" dirty="0"/>
            </a:br>
            <a:r>
              <a:rPr lang="cs-CZ" sz="1200" b="0" dirty="0"/>
              <a:t>→ procentní poplatek musí být nižší nebo stropovaný</a:t>
            </a:r>
          </a:p>
          <a:p>
            <a:r>
              <a:rPr lang="cs-CZ" sz="1200" dirty="0"/>
              <a:t>Segment C1/C2</a:t>
            </a:r>
          </a:p>
          <a:p>
            <a:r>
              <a:rPr lang="cs-CZ" sz="1200" b="0" dirty="0"/>
              <a:t>střední elasticita</a:t>
            </a:r>
          </a:p>
          <a:p>
            <a:r>
              <a:rPr lang="cs-CZ" sz="1200" b="0" dirty="0"/>
              <a:t>snížení poplatku o 0,5–1 </a:t>
            </a:r>
            <a:r>
              <a:rPr lang="cs-CZ" sz="1200" b="0" dirty="0" err="1"/>
              <a:t>p.b</a:t>
            </a:r>
            <a:r>
              <a:rPr lang="cs-CZ" sz="1200" b="0" dirty="0"/>
              <a:t>. může výrazně zvýšit konverzi</a:t>
            </a:r>
          </a:p>
          <a:p>
            <a:r>
              <a:rPr lang="cs-CZ" sz="1200" b="0" dirty="0"/>
              <a:t>ideální pro růst strategie Cash4Car</a:t>
            </a:r>
          </a:p>
          <a:p>
            <a:r>
              <a:rPr lang="cs-CZ" sz="1200" dirty="0"/>
              <a:t>Segment C3/D1</a:t>
            </a:r>
          </a:p>
          <a:p>
            <a:r>
              <a:rPr lang="cs-CZ" sz="1200" b="0" dirty="0"/>
              <a:t>vysoká cenová elasticita</a:t>
            </a:r>
          </a:p>
          <a:p>
            <a:r>
              <a:rPr lang="cs-CZ" sz="1200" b="0" dirty="0"/>
              <a:t>příliš nízký poplatek → nezaplatí riziko</a:t>
            </a:r>
          </a:p>
          <a:p>
            <a:r>
              <a:rPr lang="cs-CZ" sz="1200" b="0" dirty="0"/>
              <a:t>příliš vysoký poplatek → drop-</a:t>
            </a:r>
            <a:r>
              <a:rPr lang="cs-CZ" sz="1200" b="0" dirty="0" err="1"/>
              <a:t>off</a:t>
            </a:r>
            <a:br>
              <a:rPr lang="cs-CZ" sz="1200" b="0" dirty="0"/>
            </a:br>
            <a:r>
              <a:rPr lang="cs-CZ" sz="1200" b="0" dirty="0"/>
              <a:t>→ 6,5 % je optimální</a:t>
            </a:r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pPr>
              <a:buNone/>
            </a:pPr>
            <a:r>
              <a:rPr lang="cs-CZ" sz="1200" dirty="0"/>
              <a:t>Model, který doporučuji (AI) nasadit:</a:t>
            </a:r>
          </a:p>
          <a:p>
            <a:pPr>
              <a:buNone/>
            </a:pPr>
            <a:r>
              <a:rPr lang="cs-CZ" sz="1200" dirty="0"/>
              <a:t>Varianta 1 – Procento + strop u prémiových segmentů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A: 3 % + strop 12 000 Kč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B: 4 % + strop 15 000 Kč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C1: 5,5 %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C2: 6 %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C3: 6,5 %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cs-CZ" sz="1200" b="0" dirty="0"/>
              <a:t>D1/D2: 7 %</a:t>
            </a:r>
          </a:p>
          <a:p>
            <a:pPr>
              <a:buNone/>
            </a:pPr>
            <a:r>
              <a:rPr lang="cs-CZ" sz="1200" b="0" dirty="0"/>
              <a:t>📌 Nejlepší poměr: ochrana rizika v nízkých segmentech, vyšší konverze u prémiových segmentů</a:t>
            </a:r>
            <a:r>
              <a:rPr lang="cs-CZ" sz="1200" dirty="0"/>
              <a:t>.</a:t>
            </a:r>
          </a:p>
          <a:p>
            <a:endParaRPr lang="cs-CZ" sz="1200" dirty="0"/>
          </a:p>
          <a:p>
            <a:endParaRPr lang="cs-CZ" sz="1200" dirty="0"/>
          </a:p>
          <a:p>
            <a:pPr marL="0" indent="0">
              <a:buNone/>
            </a:pPr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endParaRPr lang="cs-CZ" sz="1200" dirty="0"/>
          </a:p>
          <a:p>
            <a:pPr marL="0" indent="0">
              <a:buNone/>
            </a:pPr>
            <a:endParaRPr sz="1200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6AF1C8E0-6A61-2995-0B30-1867F830BDCD}"/>
              </a:ext>
            </a:extLst>
          </p:cNvPr>
          <p:cNvSpPr txBox="1">
            <a:spLocks/>
          </p:cNvSpPr>
          <p:nvPr/>
        </p:nvSpPr>
        <p:spPr>
          <a:xfrm>
            <a:off x="4572000" y="1600200"/>
            <a:ext cx="3786996" cy="452596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cs-CZ" sz="1200" dirty="0"/>
          </a:p>
        </p:txBody>
      </p:sp>
    </p:spTree>
    <p:extLst>
      <p:ext uri="{BB962C8B-B14F-4D97-AF65-F5344CB8AC3E}">
        <p14:creationId xmlns:p14="http://schemas.microsoft.com/office/powerpoint/2010/main" val="14028122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2263BAE-3424-3196-0147-2B372E47DEA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7456" y="2273301"/>
            <a:ext cx="6405794" cy="2311400"/>
          </a:xfrm>
        </p:spPr>
        <p:txBody>
          <a:bodyPr/>
          <a:lstStyle/>
          <a:p>
            <a:r>
              <a:rPr lang="cs-CZ" dirty="0"/>
              <a:t>Marketing department</a:t>
            </a:r>
            <a:br>
              <a:rPr lang="cs-CZ" dirty="0"/>
            </a:br>
            <a:r>
              <a:rPr lang="cs-CZ" dirty="0"/>
              <a:t>2025</a:t>
            </a:r>
          </a:p>
        </p:txBody>
      </p:sp>
    </p:spTree>
    <p:extLst>
      <p:ext uri="{BB962C8B-B14F-4D97-AF65-F5344CB8AC3E}">
        <p14:creationId xmlns:p14="http://schemas.microsoft.com/office/powerpoint/2010/main" val="151639430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Cash4Car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353D8B"/>
      </a:accent1>
      <a:accent2>
        <a:srgbClr val="EF4123"/>
      </a:accent2>
      <a:accent3>
        <a:srgbClr val="AEB1D1"/>
      </a:accent3>
      <a:accent4>
        <a:srgbClr val="F9B3A7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ash4Ca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Cash4Car</Template>
  <TotalTime>440</TotalTime>
  <Words>2452</Words>
  <Application>Microsoft Office PowerPoint</Application>
  <PresentationFormat>Širokoúhlá obrazovka</PresentationFormat>
  <Paragraphs>411</Paragraphs>
  <Slides>22</Slides>
  <Notes>17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22</vt:i4>
      </vt:variant>
    </vt:vector>
  </HeadingPairs>
  <TitlesOfParts>
    <vt:vector size="26" baseType="lpstr">
      <vt:lpstr>Aptos</vt:lpstr>
      <vt:lpstr>Arial</vt:lpstr>
      <vt:lpstr>Wingdings</vt:lpstr>
      <vt:lpstr>Motiv Office</vt:lpstr>
      <vt:lpstr>Segmentační analýza  CZ klientů Cash4Car  Aktualizace pro roky 2024 a 2025 – věk a regiony, marketing mix </vt:lpstr>
      <vt:lpstr>Segmentace</vt:lpstr>
      <vt:lpstr>1.1 Souhrn segmentace 2025 Přehled segmentů 2025:</vt:lpstr>
      <vt:lpstr>1.2 Souhrn segmentace 2025 Distribuce segmentů A–E (2025)  Průměrný věk klientů podle segmentu (2025)</vt:lpstr>
      <vt:lpstr>1.2.1 Souhrn segmentace 2025 Průměrný věk klientů podle segmentu (2025) histogram</vt:lpstr>
      <vt:lpstr>1.3 Souhrn segmentace 2025 Četnost klientů dle segmentu a kraje (2025)</vt:lpstr>
      <vt:lpstr>2.1 Porovnání segmentů 2025 vs. 2024 Změny v počtech klientů podle segmentů:</vt:lpstr>
      <vt:lpstr>3.1 Typický klient a trend skóre Průměrné hodnoty 2024 vs 2025:</vt:lpstr>
      <vt:lpstr>Marketingová strategie (AI)</vt:lpstr>
      <vt:lpstr>4.1 Marketingová strategie podle segmentů Návrh AI - komunikace</vt:lpstr>
      <vt:lpstr>4.2 Marketingová strategie podle segmentů Doporučení komunikace</vt:lpstr>
      <vt:lpstr>4.3 Marketingová strategie podle segmentů Návrhy claimů pro Cash4Car, doporučené trexty pro banery:</vt:lpstr>
      <vt:lpstr>4.4 Marketingová strategie podle segmentů Marketingové persony</vt:lpstr>
      <vt:lpstr>4.5 Marketingová strategie podle segmentů Sezónní komunikační plán, Marketingový funnel (TOFU/MOFU/BOFU):</vt:lpstr>
      <vt:lpstr>4.6 Marketingová strategie podle segmentů Marketingová roadmapa 2025–2026 (potřeba analyzovat, upravit a načasovat)</vt:lpstr>
      <vt:lpstr>4.7 Marketingová strategie podle segmentů TOP 10 brandových claimů Cash4Car dle AI</vt:lpstr>
      <vt:lpstr>Cenová elasticita</vt:lpstr>
      <vt:lpstr>5.1 Cenová elasticita nabídky Mini případová AI studie </vt:lpstr>
      <vt:lpstr>5.2 Cenová elasticita nabídky Doporučení: diferencovaný rezervační poplatek podle segmentu </vt:lpstr>
      <vt:lpstr>5.3 Cenová elasticita nabídky Shrnutí doporučených poplatků </vt:lpstr>
      <vt:lpstr>5.4 Cenová elasticita nabídky Co je za tím z pohledu elasticity? Model: </vt:lpstr>
      <vt:lpstr>Marketing department 2025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Robert Pechač</dc:creator>
  <cp:lastModifiedBy>Kašpar Martin</cp:lastModifiedBy>
  <cp:revision>53</cp:revision>
  <dcterms:created xsi:type="dcterms:W3CDTF">2024-12-01T14:56:58Z</dcterms:created>
  <dcterms:modified xsi:type="dcterms:W3CDTF">2025-12-11T11:16:58Z</dcterms:modified>
</cp:coreProperties>
</file>